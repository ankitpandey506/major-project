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75" r:id="rId4"/>
    <p:sldId id="258" r:id="rId5"/>
    <p:sldId id="267" r:id="rId6"/>
    <p:sldId id="268" r:id="rId7"/>
    <p:sldId id="269" r:id="rId8"/>
    <p:sldId id="270" r:id="rId9"/>
    <p:sldId id="262" r:id="rId10"/>
    <p:sldId id="272" r:id="rId11"/>
    <p:sldId id="271" r:id="rId12"/>
    <p:sldId id="273" r:id="rId13"/>
    <p:sldId id="274"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9"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6"/>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91"/>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90" cy="823916"/>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4"/>
          </a:xfrm>
          <a:prstGeom prst="rect">
            <a:avLst/>
          </a:prstGeom>
        </p:spPr>
        <p:txBody>
          <a:bodyPr anchor="b"/>
          <a:lstStyle/>
          <a:p>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40"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4"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40"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4" cy="4873625"/>
          </a:xfrm>
          <a:prstGeom prst="rect">
            <a:avLst/>
          </a:prstGeom>
        </p:spPr>
        <p:txBody>
          <a:bodyPr lIns="91439" tIns="45719" rIns="91439" bIns="45719">
            <a:noAutofit/>
          </a:bodyPr>
          <a:lstStyle/>
          <a:p>
            <a:endParaRPr/>
          </a:p>
        </p:txBody>
      </p:sp>
      <p:sp>
        <p:nvSpPr>
          <p:cNvPr id="84" name="Body Level One…"/>
          <p:cNvSpPr txBox="1">
            <a:spLocks noGrp="1"/>
          </p:cNvSpPr>
          <p:nvPr>
            <p:ph type="body" sz="quarter" idx="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81" y="6414762"/>
            <a:ext cx="258620" cy="248302"/>
          </a:xfrm>
          <a:prstGeom prst="rect">
            <a:avLst/>
          </a:prstGeom>
          <a:ln w="12700">
            <a:miter lim="400000"/>
          </a:ln>
        </p:spPr>
        <p:txBody>
          <a:bodyPr wrap="none" lIns="45718" tIns="45718" rIns="45718" bIns="45718" anchor="ctr">
            <a:spAutoFit/>
          </a:bodyPr>
          <a:lstStyle>
            <a:lvl1pPr algn="r">
              <a:defRPr sz="1200">
                <a:solidFill>
                  <a:srgbClr val="888888"/>
                </a:solidFill>
                <a:latin typeface="+mn-lt"/>
                <a:ea typeface="+mn-ea"/>
                <a:cs typeface="+mn-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6"/>
          <p:cNvSpPr txBox="1">
            <a:spLocks noGrp="1"/>
          </p:cNvSpPr>
          <p:nvPr>
            <p:ph type="ctrTitle"/>
          </p:nvPr>
        </p:nvSpPr>
        <p:spPr>
          <a:xfrm>
            <a:off x="2695754" y="-382349"/>
            <a:ext cx="6800492" cy="1999409"/>
          </a:xfrm>
          <a:prstGeom prst="rect">
            <a:avLst/>
          </a:prstGeom>
        </p:spPr>
        <p:txBody>
          <a:bodyPr/>
          <a:lstStyle/>
          <a:p>
            <a:pPr>
              <a:defRPr sz="4000" b="1">
                <a:solidFill>
                  <a:srgbClr val="FF0000"/>
                </a:solidFill>
                <a:latin typeface="Times New Roman"/>
                <a:ea typeface="Times New Roman"/>
                <a:cs typeface="Times New Roman"/>
                <a:sym typeface="Times New Roman"/>
              </a:defRPr>
            </a:pPr>
            <a:r>
              <a:rPr dirty="0"/>
              <a:t>CMR Technical Campus</a:t>
            </a:r>
            <a:br>
              <a:rPr dirty="0"/>
            </a:br>
            <a:r>
              <a:rPr dirty="0">
                <a:solidFill>
                  <a:srgbClr val="00B0F0"/>
                </a:solidFill>
              </a:rPr>
              <a:t>Department of CSE</a:t>
            </a:r>
          </a:p>
        </p:txBody>
      </p:sp>
      <p:pic>
        <p:nvPicPr>
          <p:cNvPr id="95" name="Picture 7" descr="Picture 7"/>
          <p:cNvPicPr>
            <a:picLocks noChangeAspect="1"/>
          </p:cNvPicPr>
          <p:nvPr/>
        </p:nvPicPr>
        <p:blipFill>
          <a:blip r:embed="rId2"/>
          <a:stretch>
            <a:fillRect/>
          </a:stretch>
        </p:blipFill>
        <p:spPr>
          <a:xfrm>
            <a:off x="536823" y="126161"/>
            <a:ext cx="1648971" cy="1429830"/>
          </a:xfrm>
          <a:prstGeom prst="rect">
            <a:avLst/>
          </a:prstGeom>
          <a:ln w="12700">
            <a:miter lim="400000"/>
          </a:ln>
        </p:spPr>
      </p:pic>
      <p:sp>
        <p:nvSpPr>
          <p:cNvPr id="96" name="TextBox 8"/>
          <p:cNvSpPr txBox="1"/>
          <p:nvPr/>
        </p:nvSpPr>
        <p:spPr>
          <a:xfrm>
            <a:off x="1671797" y="1680268"/>
            <a:ext cx="8848406" cy="523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2800" b="1">
                <a:solidFill>
                  <a:srgbClr val="7030A0"/>
                </a:solidFill>
                <a:latin typeface="Times New Roman"/>
                <a:ea typeface="Times New Roman"/>
                <a:cs typeface="Times New Roman"/>
                <a:sym typeface="Times New Roman"/>
              </a:defRPr>
            </a:lvl1pPr>
          </a:lstStyle>
          <a:p>
            <a:pPr algn="ctr"/>
            <a:r>
              <a:rPr dirty="0"/>
              <a:t>Major</a:t>
            </a:r>
            <a:r>
              <a:rPr lang="en-US" dirty="0"/>
              <a:t> </a:t>
            </a:r>
            <a:r>
              <a:rPr dirty="0"/>
              <a:t>Project</a:t>
            </a:r>
          </a:p>
        </p:txBody>
      </p:sp>
      <p:sp>
        <p:nvSpPr>
          <p:cNvPr id="97" name="TextBox 9"/>
          <p:cNvSpPr txBox="1"/>
          <p:nvPr/>
        </p:nvSpPr>
        <p:spPr>
          <a:xfrm>
            <a:off x="427365" y="2769620"/>
            <a:ext cx="11477420" cy="461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lvl1pPr>
              <a:defRPr sz="2400" b="1">
                <a:latin typeface="Times New Roman"/>
                <a:ea typeface="Times New Roman"/>
                <a:cs typeface="Times New Roman"/>
                <a:sym typeface="Times New Roman"/>
              </a:defRPr>
            </a:lvl1pPr>
          </a:lstStyle>
          <a:p>
            <a:r>
              <a:rPr dirty="0"/>
              <a:t>Project Title: </a:t>
            </a:r>
            <a:r>
              <a:rPr lang="en-US" dirty="0"/>
              <a:t>Deep Learning and NLP-Based Emotion-Aware Conversational Agents</a:t>
            </a:r>
            <a:endParaRPr dirty="0"/>
          </a:p>
        </p:txBody>
      </p:sp>
      <p:sp>
        <p:nvSpPr>
          <p:cNvPr id="98" name="TextBox 10"/>
          <p:cNvSpPr txBox="1"/>
          <p:nvPr/>
        </p:nvSpPr>
        <p:spPr>
          <a:xfrm>
            <a:off x="427365" y="4248106"/>
            <a:ext cx="4225560" cy="10156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defRPr sz="2000" b="1">
                <a:solidFill>
                  <a:srgbClr val="00B0F0"/>
                </a:solidFill>
                <a:latin typeface="Times New Roman"/>
                <a:ea typeface="Times New Roman"/>
                <a:cs typeface="Times New Roman"/>
                <a:sym typeface="Times New Roman"/>
              </a:defRPr>
            </a:pPr>
            <a:r>
              <a:rPr dirty="0"/>
              <a:t>Project </a:t>
            </a:r>
            <a:r>
              <a:rPr lang="en-US" dirty="0"/>
              <a:t>Guide</a:t>
            </a:r>
            <a:r>
              <a:rPr dirty="0"/>
              <a:t>:</a:t>
            </a:r>
            <a:r>
              <a:rPr b="0" dirty="0">
                <a:solidFill>
                  <a:srgbClr val="000000"/>
                </a:solidFill>
              </a:rPr>
              <a:t>​</a:t>
            </a:r>
          </a:p>
          <a:p>
            <a:pPr>
              <a:defRPr sz="2000" b="1">
                <a:solidFill>
                  <a:srgbClr val="002060"/>
                </a:solidFill>
                <a:latin typeface="Times New Roman"/>
                <a:ea typeface="Times New Roman"/>
                <a:cs typeface="Times New Roman"/>
                <a:sym typeface="Times New Roman"/>
              </a:defRPr>
            </a:pPr>
            <a:r>
              <a:rPr dirty="0"/>
              <a:t>Name:</a:t>
            </a:r>
            <a:r>
              <a:rPr b="0" dirty="0">
                <a:solidFill>
                  <a:srgbClr val="000000"/>
                </a:solidFill>
              </a:rPr>
              <a:t>​ </a:t>
            </a:r>
            <a:r>
              <a:rPr lang="en-IN" sz="2000" b="1" dirty="0">
                <a:solidFill>
                  <a:srgbClr val="002060"/>
                </a:solidFill>
                <a:sym typeface="Times New Roman"/>
              </a:rPr>
              <a:t>Mr. K. Ranjith Reddy</a:t>
            </a:r>
            <a:endParaRPr lang="en-IN" sz="2000" dirty="0">
              <a:sym typeface="Times New Roman"/>
            </a:endParaRPr>
          </a:p>
          <a:p>
            <a:pPr>
              <a:defRPr sz="2000" b="1">
                <a:solidFill>
                  <a:srgbClr val="002060"/>
                </a:solidFill>
                <a:latin typeface="Times New Roman"/>
                <a:ea typeface="Times New Roman"/>
                <a:cs typeface="Times New Roman"/>
                <a:sym typeface="Times New Roman"/>
              </a:defRPr>
            </a:pPr>
            <a:r>
              <a:rPr dirty="0"/>
              <a:t>Designation:</a:t>
            </a:r>
            <a:r>
              <a:rPr b="0" dirty="0"/>
              <a:t> </a:t>
            </a:r>
            <a:r>
              <a:rPr lang="en-US" sz="2000" b="1" dirty="0">
                <a:sym typeface="Times New Roman"/>
              </a:rPr>
              <a:t>Assistant</a:t>
            </a:r>
            <a:r>
              <a:rPr lang="en-US" sz="2000" dirty="0">
                <a:sym typeface="Times New Roman"/>
              </a:rPr>
              <a:t> professor</a:t>
            </a:r>
            <a:endParaRPr b="1" dirty="0"/>
          </a:p>
        </p:txBody>
      </p:sp>
      <p:sp>
        <p:nvSpPr>
          <p:cNvPr id="99" name="TextBox 1"/>
          <p:cNvSpPr txBox="1"/>
          <p:nvPr/>
        </p:nvSpPr>
        <p:spPr>
          <a:xfrm>
            <a:off x="5721304" y="4262908"/>
            <a:ext cx="6285069" cy="14773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defRPr b="1">
                <a:solidFill>
                  <a:srgbClr val="00B0F0"/>
                </a:solidFill>
                <a:latin typeface="Times New Roman"/>
                <a:ea typeface="Times New Roman"/>
                <a:cs typeface="Times New Roman"/>
                <a:sym typeface="Times New Roman"/>
              </a:defRPr>
            </a:pPr>
            <a:r>
              <a:rPr dirty="0"/>
              <a:t>Presented By:</a:t>
            </a:r>
            <a:r>
              <a:rPr b="0" dirty="0">
                <a:solidFill>
                  <a:srgbClr val="000000"/>
                </a:solidFill>
              </a:rPr>
              <a:t>​</a:t>
            </a:r>
          </a:p>
          <a:p>
            <a:pPr>
              <a:defRPr>
                <a:latin typeface="Times New Roman"/>
                <a:ea typeface="Times New Roman"/>
                <a:cs typeface="Times New Roman"/>
                <a:sym typeface="Times New Roman"/>
              </a:defRPr>
            </a:pPr>
            <a:r>
              <a:rPr dirty="0"/>
              <a:t>Batch No: </a:t>
            </a:r>
            <a:r>
              <a:rPr lang="en-US" dirty="0"/>
              <a:t>04</a:t>
            </a:r>
            <a:endParaRPr dirty="0"/>
          </a:p>
          <a:p>
            <a:pPr marL="342900" indent="-342900">
              <a:buSzPct val="100000"/>
              <a:buAutoNum type="arabicPeriod"/>
              <a:defRPr>
                <a:latin typeface="Times New Roman"/>
                <a:ea typeface="Times New Roman"/>
                <a:cs typeface="Times New Roman"/>
                <a:sym typeface="Times New Roman"/>
              </a:defRPr>
            </a:pPr>
            <a:r>
              <a:rPr lang="en-US" dirty="0"/>
              <a:t>Roll</a:t>
            </a:r>
            <a:r>
              <a:rPr dirty="0"/>
              <a:t> No: 227R1A05</a:t>
            </a:r>
            <a:r>
              <a:rPr lang="en-US" dirty="0"/>
              <a:t>06</a:t>
            </a:r>
            <a:r>
              <a:rPr dirty="0"/>
              <a:t>                  Name:</a:t>
            </a:r>
            <a:r>
              <a:rPr lang="en-US" dirty="0"/>
              <a:t> </a:t>
            </a:r>
            <a:r>
              <a:rPr lang="en-US" dirty="0" err="1"/>
              <a:t>Ankith</a:t>
            </a:r>
            <a:r>
              <a:rPr lang="en-US" dirty="0"/>
              <a:t> Kumar Pandey </a:t>
            </a:r>
            <a:endParaRPr dirty="0"/>
          </a:p>
          <a:p>
            <a:pPr marL="342900" indent="-342900">
              <a:buSzPct val="100000"/>
              <a:buAutoNum type="arabicPeriod"/>
              <a:defRPr>
                <a:latin typeface="Times New Roman"/>
                <a:ea typeface="Times New Roman"/>
                <a:cs typeface="Times New Roman"/>
                <a:sym typeface="Times New Roman"/>
              </a:defRPr>
            </a:pPr>
            <a:r>
              <a:rPr lang="en-US" dirty="0"/>
              <a:t>Roll</a:t>
            </a:r>
            <a:r>
              <a:rPr dirty="0"/>
              <a:t> No: 227R1A05</a:t>
            </a:r>
            <a:r>
              <a:rPr lang="en-US" dirty="0"/>
              <a:t>55 </a:t>
            </a:r>
            <a:r>
              <a:rPr dirty="0"/>
              <a:t>                 Name:</a:t>
            </a:r>
            <a:r>
              <a:rPr lang="en-US" dirty="0"/>
              <a:t> S. </a:t>
            </a:r>
            <a:r>
              <a:rPr lang="en-US" dirty="0" err="1"/>
              <a:t>Anjitha</a:t>
            </a:r>
            <a:r>
              <a:rPr lang="en-US" dirty="0"/>
              <a:t> Reddy</a:t>
            </a:r>
            <a:endParaRPr dirty="0"/>
          </a:p>
          <a:p>
            <a:pPr>
              <a:defRPr>
                <a:latin typeface="Times New Roman"/>
                <a:ea typeface="Times New Roman"/>
                <a:cs typeface="Times New Roman"/>
                <a:sym typeface="Times New Roman"/>
              </a:defRPr>
            </a:pPr>
            <a:r>
              <a:rPr lang="en-US" dirty="0"/>
              <a:t>3</a:t>
            </a:r>
            <a:r>
              <a:rPr dirty="0"/>
              <a:t>.   </a:t>
            </a:r>
            <a:r>
              <a:rPr lang="en-US" dirty="0"/>
              <a:t>Roll </a:t>
            </a:r>
            <a:r>
              <a:rPr dirty="0"/>
              <a:t>No: 227R1A05</a:t>
            </a:r>
            <a:r>
              <a:rPr lang="en-US" dirty="0"/>
              <a:t>30</a:t>
            </a:r>
            <a:r>
              <a:rPr dirty="0"/>
              <a:t>                  Name:</a:t>
            </a:r>
            <a:r>
              <a:rPr lang="en-US" dirty="0"/>
              <a:t> K. Radha</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
          <p:cNvSpPr txBox="1">
            <a:spLocks noGrp="1"/>
          </p:cNvSpPr>
          <p:nvPr>
            <p:ph type="title"/>
          </p:nvPr>
        </p:nvSpPr>
        <p:spPr>
          <a:xfrm>
            <a:off x="953050" y="621991"/>
            <a:ext cx="10515601" cy="1005473"/>
          </a:xfrm>
          <a:prstGeom prst="rect">
            <a:avLst/>
          </a:prstGeom>
        </p:spPr>
        <p:txBody>
          <a:bodyPr/>
          <a:lstStyle>
            <a:lvl1pPr>
              <a:defRPr sz="3600" b="1">
                <a:latin typeface="Times New Roman"/>
                <a:ea typeface="Times New Roman"/>
                <a:cs typeface="Times New Roman"/>
                <a:sym typeface="Times New Roman"/>
              </a:defRPr>
            </a:lvl1pPr>
          </a:lstStyle>
          <a:p>
            <a:r>
              <a:rPr u="sng" dirty="0"/>
              <a:t>Index</a:t>
            </a:r>
          </a:p>
        </p:txBody>
      </p:sp>
      <p:pic>
        <p:nvPicPr>
          <p:cNvPr id="102" name="Content Placeholder 3" descr="Content Placeholder 3"/>
          <p:cNvPicPr>
            <a:picLocks noChangeAspect="1"/>
          </p:cNvPicPr>
          <p:nvPr/>
        </p:nvPicPr>
        <p:blipFill>
          <a:blip r:embed="rId2"/>
          <a:stretch>
            <a:fillRect/>
          </a:stretch>
        </p:blipFill>
        <p:spPr>
          <a:xfrm>
            <a:off x="10730117" y="-3622"/>
            <a:ext cx="1477069" cy="1251226"/>
          </a:xfrm>
          <a:prstGeom prst="rect">
            <a:avLst/>
          </a:prstGeom>
          <a:ln w="12700">
            <a:miter lim="400000"/>
          </a:ln>
        </p:spPr>
      </p:pic>
      <p:sp>
        <p:nvSpPr>
          <p:cNvPr id="103" name="TextBox 4"/>
          <p:cNvSpPr txBox="1"/>
          <p:nvPr/>
        </p:nvSpPr>
        <p:spPr>
          <a:xfrm>
            <a:off x="835604" y="1810833"/>
            <a:ext cx="11179537" cy="40934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marL="228600" indent="-228600">
              <a:buSzPct val="100000"/>
              <a:buFont typeface="Helvetica"/>
              <a:buChar char="•"/>
              <a:defRPr sz="2000">
                <a:latin typeface="Times New Roman"/>
                <a:ea typeface="Times New Roman"/>
                <a:cs typeface="Times New Roman"/>
                <a:sym typeface="Times New Roman"/>
              </a:defRPr>
            </a:pPr>
            <a:r>
              <a:rPr lang="en-US" sz="2600" dirty="0"/>
              <a:t>Introduction and overview of the project</a:t>
            </a:r>
          </a:p>
          <a:p>
            <a:pPr marL="228600" indent="-228600">
              <a:buSzPct val="100000"/>
              <a:buFont typeface="Helvetica"/>
              <a:buChar char="•"/>
              <a:defRPr sz="2000">
                <a:latin typeface="Times New Roman"/>
                <a:ea typeface="Times New Roman"/>
                <a:cs typeface="Times New Roman"/>
                <a:sym typeface="Times New Roman"/>
              </a:defRPr>
            </a:pPr>
            <a:r>
              <a:rPr lang="en-US" sz="2600" dirty="0"/>
              <a:t>Abstract</a:t>
            </a:r>
          </a:p>
          <a:p>
            <a:pPr marL="228600" indent="-228600">
              <a:buSzPct val="100000"/>
              <a:buFont typeface="Helvetica"/>
              <a:buChar char="•"/>
              <a:defRPr sz="2000">
                <a:latin typeface="Times New Roman"/>
                <a:ea typeface="Times New Roman"/>
                <a:cs typeface="Times New Roman"/>
                <a:sym typeface="Times New Roman"/>
              </a:defRPr>
            </a:pPr>
            <a:r>
              <a:rPr lang="en-US" sz="2600" dirty="0"/>
              <a:t>Literature Review.</a:t>
            </a:r>
          </a:p>
          <a:p>
            <a:pPr marL="228600" indent="-228600">
              <a:buSzPct val="100000"/>
              <a:buFont typeface="Helvetica"/>
              <a:buChar char="•"/>
              <a:defRPr sz="2000">
                <a:latin typeface="Times New Roman"/>
                <a:ea typeface="Times New Roman"/>
                <a:cs typeface="Times New Roman"/>
                <a:sym typeface="Times New Roman"/>
              </a:defRPr>
            </a:pPr>
            <a:r>
              <a:rPr lang="en-US" sz="2600" dirty="0"/>
              <a:t>Problem Definition </a:t>
            </a:r>
          </a:p>
          <a:p>
            <a:pPr marL="228600" indent="-228600">
              <a:buSzPct val="100000"/>
              <a:buFont typeface="Helvetica"/>
              <a:buChar char="•"/>
              <a:defRPr sz="2000">
                <a:latin typeface="Times New Roman"/>
                <a:ea typeface="Times New Roman"/>
                <a:cs typeface="Times New Roman"/>
                <a:sym typeface="Times New Roman"/>
              </a:defRPr>
            </a:pPr>
            <a:r>
              <a:rPr lang="en-US" sz="2600" dirty="0"/>
              <a:t>Proposed system.</a:t>
            </a:r>
          </a:p>
          <a:p>
            <a:pPr marL="228600" indent="-228600">
              <a:buSzPct val="100000"/>
              <a:buFont typeface="Helvetica"/>
              <a:buChar char="•"/>
              <a:defRPr sz="2000">
                <a:latin typeface="Times New Roman"/>
                <a:ea typeface="Times New Roman"/>
                <a:cs typeface="Times New Roman"/>
                <a:sym typeface="Times New Roman"/>
              </a:defRPr>
            </a:pPr>
            <a:r>
              <a:rPr lang="en-US" sz="2600" dirty="0"/>
              <a:t>Objectives </a:t>
            </a:r>
          </a:p>
          <a:p>
            <a:pPr marL="228600" indent="-228600">
              <a:buSzPct val="100000"/>
              <a:buFont typeface="Helvetica"/>
              <a:buChar char="•"/>
              <a:defRPr sz="2000">
                <a:latin typeface="Times New Roman"/>
                <a:ea typeface="Times New Roman"/>
                <a:cs typeface="Times New Roman"/>
                <a:sym typeface="Times New Roman"/>
              </a:defRPr>
            </a:pPr>
            <a:r>
              <a:rPr lang="en-US" sz="2600" dirty="0"/>
              <a:t>Architecture </a:t>
            </a:r>
          </a:p>
          <a:p>
            <a:pPr marL="228600" indent="-228600">
              <a:buSzPct val="100000"/>
              <a:buFont typeface="Helvetica"/>
              <a:buChar char="•"/>
              <a:defRPr sz="2000">
                <a:latin typeface="Times New Roman"/>
                <a:ea typeface="Times New Roman"/>
                <a:cs typeface="Times New Roman"/>
                <a:sym typeface="Times New Roman"/>
              </a:defRPr>
            </a:pPr>
            <a:r>
              <a:rPr lang="en-US" sz="2600" dirty="0"/>
              <a:t>UML Diagrams</a:t>
            </a:r>
          </a:p>
          <a:p>
            <a:pPr marL="228600" indent="-228600">
              <a:buSzPct val="100000"/>
              <a:buFont typeface="Helvetica"/>
              <a:buChar char="•"/>
              <a:defRPr sz="2000">
                <a:latin typeface="Times New Roman"/>
                <a:ea typeface="Times New Roman"/>
                <a:cs typeface="Times New Roman"/>
                <a:sym typeface="Times New Roman"/>
              </a:defRPr>
            </a:pPr>
            <a:r>
              <a:rPr lang="en-US" sz="2600" dirty="0"/>
              <a:t>Analysis.</a:t>
            </a:r>
          </a:p>
          <a:p>
            <a:pPr marL="228600" indent="-228600">
              <a:buSzPct val="100000"/>
              <a:buFont typeface="Helvetica"/>
              <a:buChar char="•"/>
              <a:defRPr sz="2000">
                <a:latin typeface="Times New Roman"/>
                <a:ea typeface="Times New Roman"/>
                <a:cs typeface="Times New Roman"/>
                <a:sym typeface="Times New Roman"/>
              </a:defRPr>
            </a:pPr>
            <a:r>
              <a:rPr lang="en-US" sz="2600" dirty="0"/>
              <a:t>Expected Output.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a:xfrm>
            <a:off x="848033" y="807578"/>
            <a:ext cx="10026445" cy="588604"/>
          </a:xfrm>
        </p:spPr>
        <p:txBody>
          <a:bodyPr>
            <a:normAutofit fontScale="90000"/>
          </a:bodyPr>
          <a:lstStyle/>
          <a:p>
            <a:r>
              <a:rPr lang="en-US" dirty="0">
                <a:latin typeface="Times New Roman"/>
                <a:cs typeface="Arial"/>
              </a:rPr>
              <a:t>Department Vision and Mission</a:t>
            </a:r>
            <a:br>
              <a:rPr lang="en-US" dirty="0">
                <a:latin typeface="Times New Roman"/>
                <a:cs typeface="Arial"/>
              </a:rPr>
            </a:br>
            <a:endParaRPr lang="en-IN" dirty="0"/>
          </a:p>
        </p:txBody>
      </p:sp>
      <p:sp>
        <p:nvSpPr>
          <p:cNvPr id="1048599" name="Content Placeholder 2"/>
          <p:cNvSpPr>
            <a:spLocks noGrp="1"/>
          </p:cNvSpPr>
          <p:nvPr>
            <p:ph idx="1"/>
          </p:nvPr>
        </p:nvSpPr>
        <p:spPr>
          <a:xfrm>
            <a:off x="838200" y="1396181"/>
            <a:ext cx="10515600" cy="5122605"/>
          </a:xfrm>
        </p:spPr>
        <p:txBody>
          <a:bodyPr>
            <a:normAutofit fontScale="92500" lnSpcReduction="10000"/>
          </a:bodyPr>
          <a:lstStyle/>
          <a:p>
            <a:pPr marL="0" indent="0" fontAlgn="base">
              <a:buNone/>
            </a:pPr>
            <a:r>
              <a:rPr lang="en-US" b="1" dirty="0">
                <a:latin typeface="Times New Roman" panose="02020603050405020304" pitchFamily="18" charset="0"/>
                <a:cs typeface="Times New Roman" panose="02020603050405020304" pitchFamily="18" charset="0"/>
              </a:rPr>
              <a:t>Vision</a:t>
            </a:r>
          </a:p>
          <a:p>
            <a:pPr algn="just" fontAlgn="base"/>
            <a:r>
              <a:rPr lang="en-US" dirty="0">
                <a:latin typeface="Times New Roman" panose="02020603050405020304" pitchFamily="18" charset="0"/>
                <a:cs typeface="Times New Roman" panose="02020603050405020304" pitchFamily="18" charset="0"/>
              </a:rPr>
              <a:t>To Provide quality education and a conducive learning environment in computer engineering that foster critical thinking, creativity, and practical problem-solving skills.</a:t>
            </a:r>
          </a:p>
          <a:p>
            <a:pPr marL="0" indent="0" fontAlgn="base">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Mission</a:t>
            </a:r>
          </a:p>
          <a:p>
            <a:pPr fontAlgn="base"/>
            <a:r>
              <a:rPr lang="en-US" b="1" dirty="0">
                <a:latin typeface="Times New Roman" panose="02020603050405020304" pitchFamily="18" charset="0"/>
                <a:cs typeface="Times New Roman" panose="02020603050405020304" pitchFamily="18" charset="0"/>
              </a:rPr>
              <a:t>M1:</a:t>
            </a:r>
            <a:r>
              <a:rPr lang="en-US" dirty="0">
                <a:latin typeface="Times New Roman" panose="02020603050405020304" pitchFamily="18" charset="0"/>
                <a:cs typeface="Times New Roman" panose="02020603050405020304" pitchFamily="18" charset="0"/>
              </a:rPr>
              <a:t> To educate the students in fundamental principles of computing and induce the skills needed to solve practical problems.</a:t>
            </a:r>
          </a:p>
          <a:p>
            <a:pPr fontAlgn="base"/>
            <a:r>
              <a:rPr lang="en-US" b="1" dirty="0">
                <a:latin typeface="Times New Roman" panose="02020603050405020304" pitchFamily="18" charset="0"/>
                <a:cs typeface="Times New Roman" panose="02020603050405020304" pitchFamily="18" charset="0"/>
              </a:rPr>
              <a:t>M2:</a:t>
            </a:r>
            <a:r>
              <a:rPr lang="en-US" dirty="0">
                <a:latin typeface="Times New Roman" panose="02020603050405020304" pitchFamily="18" charset="0"/>
                <a:cs typeface="Times New Roman" panose="02020603050405020304" pitchFamily="18" charset="0"/>
              </a:rPr>
              <a:t> To provide State-of-the-art computing laboratory facilities to promote industry-institute interaction to enhance student’s practical knowledge.</a:t>
            </a:r>
          </a:p>
          <a:p>
            <a:pPr fontAlgn="base"/>
            <a:r>
              <a:rPr lang="en-US" b="1" dirty="0">
                <a:latin typeface="Times New Roman" panose="02020603050405020304" pitchFamily="18" charset="0"/>
                <a:cs typeface="Times New Roman" panose="02020603050405020304" pitchFamily="18" charset="0"/>
              </a:rPr>
              <a:t>M3:</a:t>
            </a:r>
            <a:r>
              <a:rPr lang="en-US" dirty="0">
                <a:latin typeface="Times New Roman" panose="02020603050405020304" pitchFamily="18" charset="0"/>
                <a:cs typeface="Times New Roman" panose="02020603050405020304" pitchFamily="18" charset="0"/>
              </a:rPr>
              <a:t> To Inculcate self-learning abilities, team spirit, and professional ethics among the students to serve society.</a:t>
            </a:r>
          </a:p>
          <a:p>
            <a:pPr marL="0" indent="0">
              <a:buNone/>
            </a:pP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itle 1"/>
          <p:cNvSpPr txBox="1">
            <a:spLocks noGrp="1"/>
          </p:cNvSpPr>
          <p:nvPr>
            <p:ph type="title"/>
          </p:nvPr>
        </p:nvSpPr>
        <p:spPr>
          <a:xfrm>
            <a:off x="1116639" y="571114"/>
            <a:ext cx="10515601" cy="1325564"/>
          </a:xfrm>
          <a:prstGeom prst="rect">
            <a:avLst/>
          </a:prstGeom>
        </p:spPr>
        <p:txBody>
          <a:bodyPr/>
          <a:lstStyle/>
          <a:p>
            <a:pPr>
              <a:defRPr sz="3600" b="1">
                <a:latin typeface="Times New Roman"/>
                <a:ea typeface="Times New Roman"/>
                <a:cs typeface="Times New Roman"/>
                <a:sym typeface="Times New Roman"/>
              </a:defRPr>
            </a:pPr>
            <a:r>
              <a:rPr u="sng" dirty="0"/>
              <a:t>Introduction</a:t>
            </a:r>
            <a:br>
              <a:rPr dirty="0"/>
            </a:br>
            <a:endParaRPr dirty="0"/>
          </a:p>
        </p:txBody>
      </p:sp>
      <p:pic>
        <p:nvPicPr>
          <p:cNvPr id="2" name="Content Placeholder 3" descr="Content Placeholder 3">
            <a:extLst>
              <a:ext uri="{FF2B5EF4-FFF2-40B4-BE49-F238E27FC236}">
                <a16:creationId xmlns:a16="http://schemas.microsoft.com/office/drawing/2014/main" id="{266C8914-E4E6-CD6C-2C1C-3A4DC818BA16}"/>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sp>
        <p:nvSpPr>
          <p:cNvPr id="3" name="Rectangle 1"/>
          <p:cNvSpPr>
            <a:spLocks noChangeArrowheads="1"/>
          </p:cNvSpPr>
          <p:nvPr/>
        </p:nvSpPr>
        <p:spPr bwMode="auto">
          <a:xfrm>
            <a:off x="682524" y="1843950"/>
            <a:ext cx="1082695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dirty="0"/>
              <a:t>Traditional conversational agents focus on interpreting the meaning of user inputs but lack the ability to detect and adapt to the emotional state of the user. This limitation results in interactions that feel mechanical, unempathetic, and disconnected from human communication norms.</a:t>
            </a:r>
          </a:p>
          <a:p>
            <a:pPr algn="just"/>
            <a:br>
              <a:rPr lang="en-US" sz="2000" dirty="0"/>
            </a:br>
            <a:r>
              <a:rPr lang="en-US" sz="2000" dirty="0"/>
              <a:t>Advancements in </a:t>
            </a:r>
            <a:r>
              <a:rPr lang="en-US" sz="2000" b="1" dirty="0"/>
              <a:t>Deep Learning</a:t>
            </a:r>
            <a:r>
              <a:rPr lang="en-US" sz="2000" dirty="0"/>
              <a:t> and </a:t>
            </a:r>
            <a:r>
              <a:rPr lang="en-US" sz="2000" b="1" dirty="0"/>
              <a:t>Natural Language Processing (NLP)</a:t>
            </a:r>
            <a:r>
              <a:rPr lang="en-US" sz="2000" dirty="0"/>
              <a:t> have enabled the development of systems capable of detecting emotions from textual, vocal, and visual cues. By incorporating emotion recognition into conversational agents, interactions can become more natural, context-aware, and emotionally intelligent. This has significant applications in mental health support, customer service, education, and entertainment.</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78B0B-BBE3-92AA-9774-40AA281EC677}"/>
            </a:ext>
          </a:extLst>
        </p:cNvPr>
        <p:cNvGrpSpPr/>
        <p:nvPr/>
      </p:nvGrpSpPr>
      <p:grpSpPr>
        <a:xfrm>
          <a:off x="0" y="0"/>
          <a:ext cx="0" cy="0"/>
          <a:chOff x="0" y="0"/>
          <a:chExt cx="0" cy="0"/>
        </a:xfrm>
      </p:grpSpPr>
      <p:sp>
        <p:nvSpPr>
          <p:cNvPr id="105" name="Title 1">
            <a:extLst>
              <a:ext uri="{FF2B5EF4-FFF2-40B4-BE49-F238E27FC236}">
                <a16:creationId xmlns:a16="http://schemas.microsoft.com/office/drawing/2014/main" id="{8666F930-BA2B-780B-A209-AD0436ADD30E}"/>
              </a:ext>
            </a:extLst>
          </p:cNvPr>
          <p:cNvSpPr txBox="1">
            <a:spLocks noGrp="1"/>
          </p:cNvSpPr>
          <p:nvPr>
            <p:ph type="title"/>
          </p:nvPr>
        </p:nvSpPr>
        <p:spPr>
          <a:xfrm>
            <a:off x="1116639" y="571114"/>
            <a:ext cx="10515601" cy="1325564"/>
          </a:xfrm>
          <a:prstGeom prst="rect">
            <a:avLst/>
          </a:prstGeom>
        </p:spPr>
        <p:txBody>
          <a:bodyPr/>
          <a:lstStyle/>
          <a:p>
            <a:pPr>
              <a:defRPr sz="3600" b="1">
                <a:latin typeface="Times New Roman"/>
                <a:ea typeface="Times New Roman"/>
                <a:cs typeface="Times New Roman"/>
                <a:sym typeface="Times New Roman"/>
              </a:defRPr>
            </a:pPr>
            <a:r>
              <a:rPr lang="en-US" u="sng" dirty="0"/>
              <a:t>Abstract</a:t>
            </a:r>
            <a:br>
              <a:rPr dirty="0"/>
            </a:br>
            <a:endParaRPr dirty="0"/>
          </a:p>
        </p:txBody>
      </p:sp>
      <p:sp>
        <p:nvSpPr>
          <p:cNvPr id="106" name="Rectangle 2">
            <a:extLst>
              <a:ext uri="{FF2B5EF4-FFF2-40B4-BE49-F238E27FC236}">
                <a16:creationId xmlns:a16="http://schemas.microsoft.com/office/drawing/2014/main" id="{6FC8F0BE-0539-5F11-2722-56F58B61F232}"/>
              </a:ext>
            </a:extLst>
          </p:cNvPr>
          <p:cNvSpPr txBox="1"/>
          <p:nvPr/>
        </p:nvSpPr>
        <p:spPr>
          <a:xfrm>
            <a:off x="873760" y="1576760"/>
            <a:ext cx="10201601" cy="440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algn="just">
              <a:defRPr sz="2000">
                <a:latin typeface="Times New Roman"/>
                <a:ea typeface="Times New Roman"/>
                <a:cs typeface="Times New Roman"/>
                <a:sym typeface="Times New Roman"/>
              </a:defRPr>
            </a:lvl1pPr>
          </a:lstStyle>
          <a:p>
            <a:r>
              <a:rPr lang="en-US" sz="2000" dirty="0"/>
              <a:t>Conversational agents have become integral to modern human-computer interaction, yet most lack the ability to understand and respond appropriately to a user’s emotional state. This limitation reduces user engagement, empathy, and effectiveness, particularly in sensitive domains such as mental health support, education, and customer service. This project proposes a deep learning and Natural Language Processing (NLP)-based framework for building emotion-aware conversational agents capable of detecting and adapting to user emotions in real-time. The system employs transformer-based models (e.g., BERT, </a:t>
            </a:r>
            <a:r>
              <a:rPr lang="en-US" sz="2000" dirty="0" err="1"/>
              <a:t>RoBERTa</a:t>
            </a:r>
            <a:r>
              <a:rPr lang="en-US" sz="2000" dirty="0"/>
              <a:t>) for contextual emotion classification, optionally enhanced through multimodal inputs such as speech tone and facial expressions. A reinforcement learning-based dialogue manager selects responses that align with the detected emotion, ensuring consistency and empathy throughout the conversation. The proposed solution is designed for scalability, enabling deployment across multiple application areas while maintaining high accuracy, contextual relevance, and emotional appropriateness. This integration of emotion recognition and adaptive dialogue generation promises to advance the next generation of human-like, emotionally intelligent AI assistants.</a:t>
            </a:r>
          </a:p>
        </p:txBody>
      </p:sp>
      <p:pic>
        <p:nvPicPr>
          <p:cNvPr id="2" name="Content Placeholder 3" descr="Content Placeholder 3">
            <a:extLst>
              <a:ext uri="{FF2B5EF4-FFF2-40B4-BE49-F238E27FC236}">
                <a16:creationId xmlns:a16="http://schemas.microsoft.com/office/drawing/2014/main" id="{CE7F67AC-C694-C4E5-07CE-FF63A52B48CF}"/>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spTree>
    <p:extLst>
      <p:ext uri="{BB962C8B-B14F-4D97-AF65-F5344CB8AC3E}">
        <p14:creationId xmlns:p14="http://schemas.microsoft.com/office/powerpoint/2010/main" val="390748443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51C5-DA6A-F593-04E5-EC24B890B415}"/>
            </a:ext>
          </a:extLst>
        </p:cNvPr>
        <p:cNvGrpSpPr/>
        <p:nvPr/>
      </p:nvGrpSpPr>
      <p:grpSpPr>
        <a:xfrm>
          <a:off x="0" y="0"/>
          <a:ext cx="0" cy="0"/>
          <a:chOff x="0" y="0"/>
          <a:chExt cx="0" cy="0"/>
        </a:xfrm>
      </p:grpSpPr>
      <p:sp>
        <p:nvSpPr>
          <p:cNvPr id="105" name="Title 1">
            <a:extLst>
              <a:ext uri="{FF2B5EF4-FFF2-40B4-BE49-F238E27FC236}">
                <a16:creationId xmlns:a16="http://schemas.microsoft.com/office/drawing/2014/main" id="{918BC5F4-1EA7-E38F-F264-5C66401BAD44}"/>
              </a:ext>
            </a:extLst>
          </p:cNvPr>
          <p:cNvSpPr txBox="1">
            <a:spLocks noGrp="1"/>
          </p:cNvSpPr>
          <p:nvPr>
            <p:ph type="title"/>
          </p:nvPr>
        </p:nvSpPr>
        <p:spPr>
          <a:xfrm>
            <a:off x="467624" y="179630"/>
            <a:ext cx="10515601" cy="1325564"/>
          </a:xfrm>
          <a:prstGeom prst="rect">
            <a:avLst/>
          </a:prstGeom>
        </p:spPr>
        <p:txBody>
          <a:bodyPr>
            <a:normAutofit fontScale="90000"/>
          </a:bodyPr>
          <a:lstStyle/>
          <a:p>
            <a:pPr>
              <a:defRPr sz="3600" b="1">
                <a:latin typeface="Times New Roman"/>
                <a:ea typeface="Times New Roman"/>
                <a:cs typeface="Times New Roman"/>
                <a:sym typeface="Times New Roman"/>
              </a:defRPr>
            </a:pPr>
            <a:r>
              <a:rPr lang="en-IN" sz="3600" u="sng" dirty="0">
                <a:sym typeface="Times New Roman"/>
              </a:rPr>
              <a:t>Literature Review</a:t>
            </a:r>
            <a:br>
              <a:rPr lang="en-IN" sz="3600" b="1" u="sng" dirty="0">
                <a:sym typeface="Times New Roman"/>
              </a:rPr>
            </a:br>
            <a:br>
              <a:rPr u="sng" dirty="0"/>
            </a:br>
            <a:endParaRPr u="sng" dirty="0"/>
          </a:p>
        </p:txBody>
      </p:sp>
      <p:sp>
        <p:nvSpPr>
          <p:cNvPr id="106" name="Rectangle 2">
            <a:extLst>
              <a:ext uri="{FF2B5EF4-FFF2-40B4-BE49-F238E27FC236}">
                <a16:creationId xmlns:a16="http://schemas.microsoft.com/office/drawing/2014/main" id="{71DCAF44-B89D-2ABC-CDFB-5F57AB17244A}"/>
              </a:ext>
            </a:extLst>
          </p:cNvPr>
          <p:cNvSpPr txBox="1"/>
          <p:nvPr/>
        </p:nvSpPr>
        <p:spPr>
          <a:xfrm>
            <a:off x="1116639" y="1764860"/>
            <a:ext cx="9217573" cy="4001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lvl1pPr algn="just">
              <a:defRPr sz="2000">
                <a:latin typeface="Times New Roman"/>
                <a:ea typeface="Times New Roman"/>
                <a:cs typeface="Times New Roman"/>
                <a:sym typeface="Times New Roman"/>
              </a:defRPr>
            </a:lvl1pPr>
          </a:lstStyle>
          <a:p>
            <a:endParaRPr lang="en-US" dirty="0"/>
          </a:p>
        </p:txBody>
      </p:sp>
      <p:pic>
        <p:nvPicPr>
          <p:cNvPr id="2" name="Content Placeholder 3" descr="Content Placeholder 3">
            <a:extLst>
              <a:ext uri="{FF2B5EF4-FFF2-40B4-BE49-F238E27FC236}">
                <a16:creationId xmlns:a16="http://schemas.microsoft.com/office/drawing/2014/main" id="{7596B724-C2B4-9CF4-7FDB-6D631FE02CAC}"/>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graphicFrame>
        <p:nvGraphicFramePr>
          <p:cNvPr id="7" name="Table 6">
            <a:extLst>
              <a:ext uri="{FF2B5EF4-FFF2-40B4-BE49-F238E27FC236}">
                <a16:creationId xmlns:a16="http://schemas.microsoft.com/office/drawing/2014/main" id="{DDE0C8FD-0C26-B8CA-87B0-03CE00F54687}"/>
              </a:ext>
            </a:extLst>
          </p:cNvPr>
          <p:cNvGraphicFramePr>
            <a:graphicFrameLocks noGrp="1"/>
          </p:cNvGraphicFramePr>
          <p:nvPr>
            <p:extLst>
              <p:ext uri="{D42A27DB-BD31-4B8C-83A1-F6EECF244321}">
                <p14:modId xmlns:p14="http://schemas.microsoft.com/office/powerpoint/2010/main" val="4225372726"/>
              </p:ext>
            </p:extLst>
          </p:nvPr>
        </p:nvGraphicFramePr>
        <p:xfrm>
          <a:off x="654341" y="1040235"/>
          <a:ext cx="9991287" cy="5066952"/>
        </p:xfrm>
        <a:graphic>
          <a:graphicData uri="http://schemas.openxmlformats.org/drawingml/2006/table">
            <a:tbl>
              <a:tblPr firstRow="1" bandRow="1">
                <a:tableStyleId>{5C22544A-7EE6-4342-B048-85BDC9FD1C3A}</a:tableStyleId>
              </a:tblPr>
              <a:tblGrid>
                <a:gridCol w="2938613">
                  <a:extLst>
                    <a:ext uri="{9D8B030D-6E8A-4147-A177-3AD203B41FA5}">
                      <a16:colId xmlns:a16="http://schemas.microsoft.com/office/drawing/2014/main" val="20000"/>
                    </a:ext>
                  </a:extLst>
                </a:gridCol>
                <a:gridCol w="3526337">
                  <a:extLst>
                    <a:ext uri="{9D8B030D-6E8A-4147-A177-3AD203B41FA5}">
                      <a16:colId xmlns:a16="http://schemas.microsoft.com/office/drawing/2014/main" val="20001"/>
                    </a:ext>
                  </a:extLst>
                </a:gridCol>
                <a:gridCol w="3526337">
                  <a:extLst>
                    <a:ext uri="{9D8B030D-6E8A-4147-A177-3AD203B41FA5}">
                      <a16:colId xmlns:a16="http://schemas.microsoft.com/office/drawing/2014/main" val="20002"/>
                    </a:ext>
                  </a:extLst>
                </a:gridCol>
              </a:tblGrid>
              <a:tr h="723850">
                <a:tc>
                  <a:txBody>
                    <a:bodyPr/>
                    <a:lstStyle/>
                    <a:p>
                      <a:pPr algn="ctr">
                        <a:defRPr sz="1100" b="1">
                          <a:solidFill>
                            <a:srgbClr val="FFFFFF"/>
                          </a:solidFill>
                        </a:defRPr>
                      </a:pPr>
                      <a:r>
                        <a:rPr dirty="0"/>
                        <a:t>Approach</a:t>
                      </a:r>
                    </a:p>
                  </a:txBody>
                  <a:tcPr>
                    <a:solidFill>
                      <a:srgbClr val="0066CC"/>
                    </a:solidFill>
                  </a:tcPr>
                </a:tc>
                <a:tc>
                  <a:txBody>
                    <a:bodyPr/>
                    <a:lstStyle/>
                    <a:p>
                      <a:pPr algn="ctr">
                        <a:defRPr sz="1100" b="1">
                          <a:solidFill>
                            <a:srgbClr val="FFFFFF"/>
                          </a:solidFill>
                        </a:defRPr>
                      </a:pPr>
                      <a:r>
                        <a:rPr dirty="0"/>
                        <a:t>Strengths</a:t>
                      </a:r>
                    </a:p>
                  </a:txBody>
                  <a:tcPr>
                    <a:solidFill>
                      <a:srgbClr val="0066CC"/>
                    </a:solidFill>
                  </a:tcPr>
                </a:tc>
                <a:tc>
                  <a:txBody>
                    <a:bodyPr/>
                    <a:lstStyle/>
                    <a:p>
                      <a:pPr algn="ctr">
                        <a:defRPr sz="1100" b="1">
                          <a:solidFill>
                            <a:srgbClr val="FFFFFF"/>
                          </a:solidFill>
                        </a:defRPr>
                      </a:pPr>
                      <a:r>
                        <a:rPr dirty="0"/>
                        <a:t>Limitations</a:t>
                      </a:r>
                    </a:p>
                  </a:txBody>
                  <a:tcPr>
                    <a:solidFill>
                      <a:srgbClr val="0066CC"/>
                    </a:solidFill>
                  </a:tcPr>
                </a:tc>
                <a:extLst>
                  <a:ext uri="{0D108BD9-81ED-4DB2-BD59-A6C34878D82A}">
                    <a16:rowId xmlns:a16="http://schemas.microsoft.com/office/drawing/2014/main" val="10000"/>
                  </a:ext>
                </a:extLst>
              </a:tr>
              <a:tr h="723850">
                <a:tc>
                  <a:txBody>
                    <a:bodyPr/>
                    <a:lstStyle/>
                    <a:p>
                      <a:pPr algn="ctr">
                        <a:defRPr sz="1100"/>
                      </a:pPr>
                      <a:r>
                        <a:rPr dirty="0"/>
                        <a:t>Rule-based Chatbots</a:t>
                      </a:r>
                    </a:p>
                  </a:txBody>
                  <a:tcPr/>
                </a:tc>
                <a:tc>
                  <a:txBody>
                    <a:bodyPr/>
                    <a:lstStyle/>
                    <a:p>
                      <a:pPr algn="ctr">
                        <a:defRPr sz="1100"/>
                      </a:pPr>
                      <a:r>
                        <a:t>Simple, predictable</a:t>
                      </a:r>
                    </a:p>
                  </a:txBody>
                  <a:tcPr>
                    <a:solidFill>
                      <a:srgbClr val="C6EFCE"/>
                    </a:solidFill>
                  </a:tcPr>
                </a:tc>
                <a:tc>
                  <a:txBody>
                    <a:bodyPr/>
                    <a:lstStyle/>
                    <a:p>
                      <a:pPr algn="ctr">
                        <a:defRPr sz="1100"/>
                      </a:pPr>
                      <a:r>
                        <a:t>No context or emotion detection</a:t>
                      </a:r>
                    </a:p>
                  </a:txBody>
                  <a:tcPr>
                    <a:solidFill>
                      <a:srgbClr val="FFC7CE"/>
                    </a:solidFill>
                  </a:tcPr>
                </a:tc>
                <a:extLst>
                  <a:ext uri="{0D108BD9-81ED-4DB2-BD59-A6C34878D82A}">
                    <a16:rowId xmlns:a16="http://schemas.microsoft.com/office/drawing/2014/main" val="10001"/>
                  </a:ext>
                </a:extLst>
              </a:tr>
              <a:tr h="723850">
                <a:tc>
                  <a:txBody>
                    <a:bodyPr/>
                    <a:lstStyle/>
                    <a:p>
                      <a:pPr algn="ctr">
                        <a:defRPr sz="1100"/>
                      </a:pPr>
                      <a:r>
                        <a:t>ML-based NLP (RNN/LSTM)</a:t>
                      </a:r>
                    </a:p>
                  </a:txBody>
                  <a:tcPr/>
                </a:tc>
                <a:tc>
                  <a:txBody>
                    <a:bodyPr/>
                    <a:lstStyle/>
                    <a:p>
                      <a:pPr algn="ctr">
                        <a:defRPr sz="1100"/>
                      </a:pPr>
                      <a:r>
                        <a:rPr dirty="0"/>
                        <a:t>Handles sequences, basic context</a:t>
                      </a:r>
                    </a:p>
                  </a:txBody>
                  <a:tcPr>
                    <a:solidFill>
                      <a:srgbClr val="C6EFCE"/>
                    </a:solidFill>
                  </a:tcPr>
                </a:tc>
                <a:tc>
                  <a:txBody>
                    <a:bodyPr/>
                    <a:lstStyle/>
                    <a:p>
                      <a:pPr algn="ctr">
                        <a:defRPr sz="1100"/>
                      </a:pPr>
                      <a:r>
                        <a:t>Weak with long-range context, poor emotion understanding</a:t>
                      </a:r>
                    </a:p>
                  </a:txBody>
                  <a:tcPr>
                    <a:solidFill>
                      <a:srgbClr val="FFC7CE"/>
                    </a:solidFill>
                  </a:tcPr>
                </a:tc>
                <a:extLst>
                  <a:ext uri="{0D108BD9-81ED-4DB2-BD59-A6C34878D82A}">
                    <a16:rowId xmlns:a16="http://schemas.microsoft.com/office/drawing/2014/main" val="10002"/>
                  </a:ext>
                </a:extLst>
              </a:tr>
              <a:tr h="723850">
                <a:tc>
                  <a:txBody>
                    <a:bodyPr/>
                    <a:lstStyle/>
                    <a:p>
                      <a:pPr algn="ctr">
                        <a:defRPr sz="1100"/>
                      </a:pPr>
                      <a:r>
                        <a:t>Transformer-based NLP (BERT, RoBERTa)</a:t>
                      </a:r>
                    </a:p>
                  </a:txBody>
                  <a:tcPr/>
                </a:tc>
                <a:tc>
                  <a:txBody>
                    <a:bodyPr/>
                    <a:lstStyle/>
                    <a:p>
                      <a:pPr algn="ctr">
                        <a:defRPr sz="1100"/>
                      </a:pPr>
                      <a:r>
                        <a:rPr dirty="0"/>
                        <a:t>Strong context understanding, fine-tuning support</a:t>
                      </a:r>
                    </a:p>
                  </a:txBody>
                  <a:tcPr>
                    <a:solidFill>
                      <a:srgbClr val="C6EFCE"/>
                    </a:solidFill>
                  </a:tcPr>
                </a:tc>
                <a:tc>
                  <a:txBody>
                    <a:bodyPr/>
                    <a:lstStyle/>
                    <a:p>
                      <a:pPr algn="ctr">
                        <a:defRPr sz="1100"/>
                      </a:pPr>
                      <a:r>
                        <a:t>Needs large data, high compute</a:t>
                      </a:r>
                    </a:p>
                  </a:txBody>
                  <a:tcPr>
                    <a:solidFill>
                      <a:srgbClr val="FFC7CE"/>
                    </a:solidFill>
                  </a:tcPr>
                </a:tc>
                <a:extLst>
                  <a:ext uri="{0D108BD9-81ED-4DB2-BD59-A6C34878D82A}">
                    <a16:rowId xmlns:a16="http://schemas.microsoft.com/office/drawing/2014/main" val="10003"/>
                  </a:ext>
                </a:extLst>
              </a:tr>
              <a:tr h="723850">
                <a:tc>
                  <a:txBody>
                    <a:bodyPr/>
                    <a:lstStyle/>
                    <a:p>
                      <a:pPr algn="ctr">
                        <a:defRPr sz="1100"/>
                      </a:pPr>
                      <a:r>
                        <a:t>Emotion Detection (Text-only)</a:t>
                      </a:r>
                    </a:p>
                  </a:txBody>
                  <a:tcPr/>
                </a:tc>
                <a:tc>
                  <a:txBody>
                    <a:bodyPr/>
                    <a:lstStyle/>
                    <a:p>
                      <a:pPr algn="ctr">
                        <a:defRPr sz="1100"/>
                      </a:pPr>
                      <a:r>
                        <a:rPr dirty="0"/>
                        <a:t>Detects emotional tone</a:t>
                      </a:r>
                    </a:p>
                  </a:txBody>
                  <a:tcPr>
                    <a:solidFill>
                      <a:srgbClr val="C6EFCE"/>
                    </a:solidFill>
                  </a:tcPr>
                </a:tc>
                <a:tc>
                  <a:txBody>
                    <a:bodyPr/>
                    <a:lstStyle/>
                    <a:p>
                      <a:pPr algn="ctr">
                        <a:defRPr sz="1100"/>
                      </a:pPr>
                      <a:r>
                        <a:t>Misses vocal/facial cues, sarcasm issues</a:t>
                      </a:r>
                    </a:p>
                  </a:txBody>
                  <a:tcPr>
                    <a:solidFill>
                      <a:srgbClr val="FFC7CE"/>
                    </a:solidFill>
                  </a:tcPr>
                </a:tc>
                <a:extLst>
                  <a:ext uri="{0D108BD9-81ED-4DB2-BD59-A6C34878D82A}">
                    <a16:rowId xmlns:a16="http://schemas.microsoft.com/office/drawing/2014/main" val="10004"/>
                  </a:ext>
                </a:extLst>
              </a:tr>
              <a:tr h="723850">
                <a:tc>
                  <a:txBody>
                    <a:bodyPr/>
                    <a:lstStyle/>
                    <a:p>
                      <a:pPr algn="ctr">
                        <a:defRPr sz="1100"/>
                      </a:pPr>
                      <a:r>
                        <a:t>Multimodal Recognition</a:t>
                      </a:r>
                    </a:p>
                  </a:txBody>
                  <a:tcPr/>
                </a:tc>
                <a:tc>
                  <a:txBody>
                    <a:bodyPr/>
                    <a:lstStyle/>
                    <a:p>
                      <a:pPr algn="ctr">
                        <a:defRPr sz="1100"/>
                      </a:pPr>
                      <a:r>
                        <a:rPr dirty="0"/>
                        <a:t>High accuracy with multiple cues</a:t>
                      </a:r>
                    </a:p>
                  </a:txBody>
                  <a:tcPr>
                    <a:solidFill>
                      <a:srgbClr val="C6EFCE"/>
                    </a:solidFill>
                  </a:tcPr>
                </a:tc>
                <a:tc>
                  <a:txBody>
                    <a:bodyPr/>
                    <a:lstStyle/>
                    <a:p>
                      <a:pPr algn="ctr">
                        <a:defRPr sz="1100"/>
                      </a:pPr>
                      <a:r>
                        <a:rPr dirty="0"/>
                        <a:t>Complex, needs multimodal data</a:t>
                      </a:r>
                    </a:p>
                  </a:txBody>
                  <a:tcPr>
                    <a:solidFill>
                      <a:srgbClr val="FFC7CE"/>
                    </a:solidFill>
                  </a:tcPr>
                </a:tc>
                <a:extLst>
                  <a:ext uri="{0D108BD9-81ED-4DB2-BD59-A6C34878D82A}">
                    <a16:rowId xmlns:a16="http://schemas.microsoft.com/office/drawing/2014/main" val="10005"/>
                  </a:ext>
                </a:extLst>
              </a:tr>
              <a:tr h="723852">
                <a:tc>
                  <a:txBody>
                    <a:bodyPr/>
                    <a:lstStyle/>
                    <a:p>
                      <a:pPr algn="ctr">
                        <a:defRPr sz="1100"/>
                      </a:pPr>
                      <a:r>
                        <a:t>Emotion-aware Dialogue</a:t>
                      </a:r>
                    </a:p>
                  </a:txBody>
                  <a:tcPr/>
                </a:tc>
                <a:tc>
                  <a:txBody>
                    <a:bodyPr/>
                    <a:lstStyle/>
                    <a:p>
                      <a:pPr algn="ctr">
                        <a:defRPr sz="1100"/>
                      </a:pPr>
                      <a:r>
                        <a:t>Emotion-adapted responses</a:t>
                      </a:r>
                    </a:p>
                  </a:txBody>
                  <a:tcPr>
                    <a:solidFill>
                      <a:srgbClr val="C6EFCE"/>
                    </a:solidFill>
                  </a:tcPr>
                </a:tc>
                <a:tc>
                  <a:txBody>
                    <a:bodyPr/>
                    <a:lstStyle/>
                    <a:p>
                      <a:pPr algn="ctr">
                        <a:defRPr sz="1100"/>
                      </a:pPr>
                      <a:r>
                        <a:rPr dirty="0"/>
                        <a:t>Needs fine-tuning to avoid bias</a:t>
                      </a:r>
                    </a:p>
                  </a:txBody>
                  <a:tcPr>
                    <a:solidFill>
                      <a:srgbClr val="FFC7CE"/>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5255583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E1AE2-C69B-465F-3D2B-60F5FB9FFC7D}"/>
            </a:ext>
          </a:extLst>
        </p:cNvPr>
        <p:cNvGrpSpPr/>
        <p:nvPr/>
      </p:nvGrpSpPr>
      <p:grpSpPr>
        <a:xfrm>
          <a:off x="0" y="0"/>
          <a:ext cx="0" cy="0"/>
          <a:chOff x="0" y="0"/>
          <a:chExt cx="0" cy="0"/>
        </a:xfrm>
      </p:grpSpPr>
      <p:sp>
        <p:nvSpPr>
          <p:cNvPr id="105" name="Title 1">
            <a:extLst>
              <a:ext uri="{FF2B5EF4-FFF2-40B4-BE49-F238E27FC236}">
                <a16:creationId xmlns:a16="http://schemas.microsoft.com/office/drawing/2014/main" id="{4BB74CCE-4F97-A09A-6884-8049EB799659}"/>
              </a:ext>
            </a:extLst>
          </p:cNvPr>
          <p:cNvSpPr txBox="1">
            <a:spLocks noGrp="1"/>
          </p:cNvSpPr>
          <p:nvPr>
            <p:ph type="title"/>
          </p:nvPr>
        </p:nvSpPr>
        <p:spPr>
          <a:xfrm>
            <a:off x="1116639" y="571114"/>
            <a:ext cx="10515601" cy="1325564"/>
          </a:xfrm>
          <a:prstGeom prst="rect">
            <a:avLst/>
          </a:prstGeom>
        </p:spPr>
        <p:txBody>
          <a:bodyPr/>
          <a:lstStyle/>
          <a:p>
            <a:pPr>
              <a:defRPr sz="3600" b="1">
                <a:latin typeface="Times New Roman"/>
                <a:ea typeface="Times New Roman"/>
                <a:cs typeface="Times New Roman"/>
                <a:sym typeface="Times New Roman"/>
              </a:defRPr>
            </a:pPr>
            <a:r>
              <a:rPr lang="en-US" u="sng" dirty="0"/>
              <a:t>Problem Definition</a:t>
            </a:r>
            <a:br>
              <a:rPr u="sng" dirty="0"/>
            </a:br>
            <a:endParaRPr u="sng" dirty="0"/>
          </a:p>
        </p:txBody>
      </p:sp>
      <p:sp>
        <p:nvSpPr>
          <p:cNvPr id="106" name="Rectangle 2">
            <a:extLst>
              <a:ext uri="{FF2B5EF4-FFF2-40B4-BE49-F238E27FC236}">
                <a16:creationId xmlns:a16="http://schemas.microsoft.com/office/drawing/2014/main" id="{12DFAD49-EC67-CF85-6FF1-B1863D5DCBC0}"/>
              </a:ext>
            </a:extLst>
          </p:cNvPr>
          <p:cNvSpPr txBox="1"/>
          <p:nvPr/>
        </p:nvSpPr>
        <p:spPr>
          <a:xfrm>
            <a:off x="774716" y="1701753"/>
            <a:ext cx="10515601" cy="34163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lvl1pPr algn="just">
              <a:defRPr sz="2000">
                <a:latin typeface="Times New Roman"/>
                <a:ea typeface="Times New Roman"/>
                <a:cs typeface="Times New Roman"/>
                <a:sym typeface="Times New Roman"/>
              </a:defRPr>
            </a:lvl1pPr>
          </a:lstStyle>
          <a:p>
            <a:pPr algn="just"/>
            <a:r>
              <a:rPr lang="en-US" sz="2400" dirty="0"/>
              <a:t>Existing conversational agents </a:t>
            </a:r>
            <a:r>
              <a:rPr lang="en-US" sz="2400" b="1" dirty="0"/>
              <a:t>lack emotional intelligence</a:t>
            </a:r>
            <a:r>
              <a:rPr lang="en-US" sz="2400" dirty="0"/>
              <a:t>—they often respond with grammatically correct but emotionally inappropriate messages. While sentiment analysis tools exist, they typically operate in isolation without integrating </a:t>
            </a:r>
            <a:r>
              <a:rPr lang="en-US" sz="2400" b="1" dirty="0"/>
              <a:t>context-aware deep learning dialogue systems</a:t>
            </a:r>
            <a:r>
              <a:rPr lang="en-US" sz="2400" dirty="0"/>
              <a:t>. </a:t>
            </a:r>
          </a:p>
          <a:p>
            <a:pPr algn="just"/>
            <a:endParaRPr lang="en-US" sz="2400" dirty="0"/>
          </a:p>
          <a:p>
            <a:pPr algn="just"/>
            <a:r>
              <a:rPr lang="en-US" sz="2400" dirty="0"/>
              <a:t>Furthermore, </a:t>
            </a:r>
            <a:r>
              <a:rPr lang="en-US" sz="2400" b="1" dirty="0"/>
              <a:t>multimodal emotion detection</a:t>
            </a:r>
            <a:r>
              <a:rPr lang="en-US" sz="2400" dirty="0"/>
              <a:t> remains underutilized due to high complexity. There is a gap for a </a:t>
            </a:r>
            <a:r>
              <a:rPr lang="en-US" sz="2400" b="1" dirty="0"/>
              <a:t>scalable, adaptable framework</a:t>
            </a:r>
            <a:r>
              <a:rPr lang="en-US" sz="2400" dirty="0"/>
              <a:t> that fuses deep learning-based emotion recognition with NLP-driven dialogue generation in a seamless, real-time system.</a:t>
            </a:r>
          </a:p>
        </p:txBody>
      </p:sp>
      <p:pic>
        <p:nvPicPr>
          <p:cNvPr id="2" name="Content Placeholder 3" descr="Content Placeholder 3">
            <a:extLst>
              <a:ext uri="{FF2B5EF4-FFF2-40B4-BE49-F238E27FC236}">
                <a16:creationId xmlns:a16="http://schemas.microsoft.com/office/drawing/2014/main" id="{8147FF2C-B73C-3689-E617-1B5F35EE28C8}"/>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spTree>
    <p:extLst>
      <p:ext uri="{BB962C8B-B14F-4D97-AF65-F5344CB8AC3E}">
        <p14:creationId xmlns:p14="http://schemas.microsoft.com/office/powerpoint/2010/main" val="224380644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7730-B745-3D34-8F30-FEA28963FB0F}"/>
            </a:ext>
          </a:extLst>
        </p:cNvPr>
        <p:cNvGrpSpPr/>
        <p:nvPr/>
      </p:nvGrpSpPr>
      <p:grpSpPr>
        <a:xfrm>
          <a:off x="0" y="0"/>
          <a:ext cx="0" cy="0"/>
          <a:chOff x="0" y="0"/>
          <a:chExt cx="0" cy="0"/>
        </a:xfrm>
      </p:grpSpPr>
      <p:sp>
        <p:nvSpPr>
          <p:cNvPr id="105" name="Title 1">
            <a:extLst>
              <a:ext uri="{FF2B5EF4-FFF2-40B4-BE49-F238E27FC236}">
                <a16:creationId xmlns:a16="http://schemas.microsoft.com/office/drawing/2014/main" id="{0B3AEFE4-8A8D-6F75-3C50-B2DA1B0FF306}"/>
              </a:ext>
            </a:extLst>
          </p:cNvPr>
          <p:cNvSpPr txBox="1">
            <a:spLocks noGrp="1"/>
          </p:cNvSpPr>
          <p:nvPr>
            <p:ph type="title"/>
          </p:nvPr>
        </p:nvSpPr>
        <p:spPr>
          <a:xfrm>
            <a:off x="1116639" y="66858"/>
            <a:ext cx="10515601" cy="1325564"/>
          </a:xfrm>
          <a:prstGeom prst="rect">
            <a:avLst/>
          </a:prstGeom>
        </p:spPr>
        <p:txBody>
          <a:bodyPr/>
          <a:lstStyle/>
          <a:p>
            <a:pPr>
              <a:defRPr sz="3600" b="1">
                <a:latin typeface="Times New Roman"/>
                <a:ea typeface="Times New Roman"/>
                <a:cs typeface="Times New Roman"/>
                <a:sym typeface="Times New Roman"/>
              </a:defRPr>
            </a:pPr>
            <a:r>
              <a:rPr lang="en-US" u="sng" dirty="0"/>
              <a:t>Proposed System</a:t>
            </a:r>
            <a:endParaRPr u="sng" dirty="0"/>
          </a:p>
        </p:txBody>
      </p:sp>
      <p:sp>
        <p:nvSpPr>
          <p:cNvPr id="106" name="Rectangle 2">
            <a:extLst>
              <a:ext uri="{FF2B5EF4-FFF2-40B4-BE49-F238E27FC236}">
                <a16:creationId xmlns:a16="http://schemas.microsoft.com/office/drawing/2014/main" id="{584A8176-D954-474E-DF1E-181BA8C23A63}"/>
              </a:ext>
            </a:extLst>
          </p:cNvPr>
          <p:cNvSpPr txBox="1"/>
          <p:nvPr/>
        </p:nvSpPr>
        <p:spPr>
          <a:xfrm>
            <a:off x="541693" y="1066662"/>
            <a:ext cx="10547042" cy="50167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algn="just">
              <a:defRPr sz="2000">
                <a:latin typeface="Times New Roman"/>
                <a:ea typeface="Times New Roman"/>
                <a:cs typeface="Times New Roman"/>
                <a:sym typeface="Times New Roman"/>
              </a:defRPr>
            </a:lvl1pPr>
          </a:lstStyle>
          <a:p>
            <a:pPr algn="just"/>
            <a:r>
              <a:rPr lang="en-US" sz="2400" dirty="0"/>
              <a:t>The proposed </a:t>
            </a:r>
            <a:r>
              <a:rPr lang="en-US" sz="2400" b="1" dirty="0"/>
              <a:t>Emotion-Aware Conversational Agent</a:t>
            </a:r>
            <a:r>
              <a:rPr lang="en-US" sz="2400" dirty="0"/>
              <a:t> consists of:</a:t>
            </a:r>
          </a:p>
          <a:p>
            <a:pPr algn="just"/>
            <a:endParaRPr lang="en-US" sz="2400" dirty="0"/>
          </a:p>
          <a:p>
            <a:pPr algn="just">
              <a:buFont typeface="+mj-lt"/>
              <a:buAutoNum type="arabicPeriod"/>
            </a:pPr>
            <a:r>
              <a:rPr lang="en-US" sz="2400" b="1" dirty="0"/>
              <a:t>Emotion Detection Layer</a:t>
            </a:r>
            <a:endParaRPr lang="en-US" sz="2400" dirty="0"/>
          </a:p>
          <a:p>
            <a:pPr marL="742950" lvl="1" indent="-285750" algn="just">
              <a:buFont typeface="+mj-lt"/>
              <a:buAutoNum type="arabicPeriod"/>
            </a:pPr>
            <a:r>
              <a:rPr lang="en-US" sz="2000" dirty="0"/>
              <a:t>Uses transformer-based NLP models for text emotion classification.</a:t>
            </a:r>
          </a:p>
          <a:p>
            <a:pPr marL="742950" lvl="1" indent="-285750" algn="just">
              <a:buFont typeface="+mj-lt"/>
              <a:buAutoNum type="arabicPeriod"/>
            </a:pPr>
            <a:r>
              <a:rPr lang="en-US" sz="2000" dirty="0"/>
              <a:t>Optional multimodal integration with speech tone analysis and facial emotion recognition.</a:t>
            </a:r>
            <a:endParaRPr lang="en-US" sz="2400" dirty="0"/>
          </a:p>
          <a:p>
            <a:pPr algn="just">
              <a:buFont typeface="+mj-lt"/>
              <a:buAutoNum type="arabicPeriod"/>
            </a:pPr>
            <a:r>
              <a:rPr lang="en-US" sz="2400" b="1" dirty="0"/>
              <a:t>Dialogue Management Layer</a:t>
            </a:r>
            <a:endParaRPr lang="en-US" sz="2400" dirty="0"/>
          </a:p>
          <a:p>
            <a:pPr marL="742950" lvl="1" indent="-285750" algn="just">
              <a:buFont typeface="+mj-lt"/>
              <a:buAutoNum type="arabicPeriod"/>
            </a:pPr>
            <a:r>
              <a:rPr lang="en-US" sz="2000" dirty="0"/>
              <a:t>Reinforcement Learning-based policy to select emotionally adaptive responses.</a:t>
            </a:r>
          </a:p>
          <a:p>
            <a:pPr marL="742950" lvl="1" indent="-285750" algn="just">
              <a:buFont typeface="+mj-lt"/>
              <a:buAutoNum type="arabicPeriod"/>
            </a:pPr>
            <a:r>
              <a:rPr lang="en-US" sz="2000" dirty="0"/>
              <a:t>Context tracking to ensure emotional consistency.</a:t>
            </a:r>
          </a:p>
          <a:p>
            <a:pPr algn="just">
              <a:buFont typeface="+mj-lt"/>
              <a:buAutoNum type="arabicPeriod"/>
            </a:pPr>
            <a:r>
              <a:rPr lang="en-US" sz="2400" b="1" dirty="0"/>
              <a:t>Response Generation Layer</a:t>
            </a:r>
            <a:endParaRPr lang="en-US" sz="2400" dirty="0"/>
          </a:p>
          <a:p>
            <a:pPr marL="742950" lvl="1" indent="-285750" algn="just">
              <a:buFont typeface="+mj-lt"/>
              <a:buAutoNum type="arabicPeriod"/>
            </a:pPr>
            <a:r>
              <a:rPr lang="en-US" sz="2000" dirty="0"/>
              <a:t>Uses fine-tuned generative models (e.g., GPT variants) for natural responses.</a:t>
            </a:r>
          </a:p>
          <a:p>
            <a:pPr marL="742950" lvl="1" indent="-285750" algn="just">
              <a:buFont typeface="+mj-lt"/>
              <a:buAutoNum type="arabicPeriod"/>
            </a:pPr>
            <a:r>
              <a:rPr lang="en-US" sz="2000" dirty="0"/>
              <a:t>Adjusts tone, empathy level, and language style based on detected emotion</a:t>
            </a:r>
            <a:r>
              <a:rPr lang="en-US" sz="2400" dirty="0"/>
              <a:t>.</a:t>
            </a:r>
          </a:p>
          <a:p>
            <a:pPr algn="just"/>
            <a:r>
              <a:rPr lang="en-IN" sz="2800" dirty="0"/>
              <a:t>
</a:t>
            </a:r>
            <a:endParaRPr lang="en-US" sz="2300" dirty="0"/>
          </a:p>
        </p:txBody>
      </p:sp>
      <p:pic>
        <p:nvPicPr>
          <p:cNvPr id="2" name="Content Placeholder 3" descr="Content Placeholder 3">
            <a:extLst>
              <a:ext uri="{FF2B5EF4-FFF2-40B4-BE49-F238E27FC236}">
                <a16:creationId xmlns:a16="http://schemas.microsoft.com/office/drawing/2014/main" id="{FCB536B2-2A18-CD9B-33C4-324F5E647526}"/>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spTree>
    <p:extLst>
      <p:ext uri="{BB962C8B-B14F-4D97-AF65-F5344CB8AC3E}">
        <p14:creationId xmlns:p14="http://schemas.microsoft.com/office/powerpoint/2010/main" val="147094039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itle 1"/>
          <p:cNvSpPr txBox="1">
            <a:spLocks noGrp="1"/>
          </p:cNvSpPr>
          <p:nvPr>
            <p:ph type="title"/>
          </p:nvPr>
        </p:nvSpPr>
        <p:spPr>
          <a:xfrm>
            <a:off x="983164" y="486048"/>
            <a:ext cx="10515604" cy="1325564"/>
          </a:xfrm>
          <a:prstGeom prst="rect">
            <a:avLst/>
          </a:prstGeom>
        </p:spPr>
        <p:txBody>
          <a:bodyPr/>
          <a:lstStyle/>
          <a:p>
            <a:pPr>
              <a:defRPr sz="3600" b="1">
                <a:latin typeface="Times New Roman"/>
                <a:ea typeface="Times New Roman"/>
                <a:cs typeface="Times New Roman"/>
                <a:sym typeface="Times New Roman"/>
              </a:defRPr>
            </a:pPr>
            <a:r>
              <a:rPr u="sng" dirty="0"/>
              <a:t>Objectiv</a:t>
            </a:r>
            <a:r>
              <a:rPr lang="en-US" u="sng" dirty="0"/>
              <a:t>es</a:t>
            </a:r>
            <a:br>
              <a:rPr u="sng" dirty="0"/>
            </a:br>
            <a:endParaRPr u="sng" dirty="0"/>
          </a:p>
        </p:txBody>
      </p:sp>
      <p:sp>
        <p:nvSpPr>
          <p:cNvPr id="123" name="Rectangle 2"/>
          <p:cNvSpPr txBox="1"/>
          <p:nvPr/>
        </p:nvSpPr>
        <p:spPr>
          <a:xfrm>
            <a:off x="651962" y="1911638"/>
            <a:ext cx="10515604" cy="4001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marL="200526" indent="-200526" algn="just">
              <a:buSzPct val="100000"/>
              <a:buChar char="•"/>
              <a:defRPr sz="2000">
                <a:latin typeface="Times New Roman"/>
                <a:ea typeface="Times New Roman"/>
                <a:cs typeface="Times New Roman"/>
                <a:sym typeface="Times New Roman"/>
              </a:defRPr>
            </a:pPr>
            <a:endParaRPr dirty="0"/>
          </a:p>
        </p:txBody>
      </p:sp>
      <p:sp>
        <p:nvSpPr>
          <p:cNvPr id="2" name="Rectangle 1">
            <a:extLst>
              <a:ext uri="{FF2B5EF4-FFF2-40B4-BE49-F238E27FC236}">
                <a16:creationId xmlns:a16="http://schemas.microsoft.com/office/drawing/2014/main" id="{643A2F4B-2B83-9AD2-26B2-81819137A88E}"/>
              </a:ext>
            </a:extLst>
          </p:cNvPr>
          <p:cNvSpPr>
            <a:spLocks noChangeArrowheads="1"/>
          </p:cNvSpPr>
          <p:nvPr/>
        </p:nvSpPr>
        <p:spPr bwMode="auto">
          <a:xfrm>
            <a:off x="1024434" y="2041232"/>
            <a:ext cx="1031067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Font typeface="Arial" panose="020B0604020202020204" pitchFamily="34" charset="0"/>
              <a:buChar char="•"/>
            </a:pPr>
            <a:r>
              <a:rPr lang="en-US" sz="2000" dirty="0"/>
              <a:t>Build a robust emotion detection system using </a:t>
            </a:r>
            <a:r>
              <a:rPr lang="en-US" sz="2000" b="1" dirty="0"/>
              <a:t>deep learning + NLP</a:t>
            </a:r>
            <a:r>
              <a:rPr lang="en-US" sz="2000" dirty="0"/>
              <a:t>.</a:t>
            </a:r>
          </a:p>
          <a:p>
            <a:pPr marL="457200" indent="-457200" algn="just">
              <a:buFont typeface="Arial" panose="020B0604020202020204" pitchFamily="34" charset="0"/>
              <a:buChar char="•"/>
            </a:pPr>
            <a:endParaRPr lang="en-US" sz="2000" dirty="0"/>
          </a:p>
          <a:p>
            <a:pPr marL="457200" indent="-457200" algn="just">
              <a:buFont typeface="Arial" panose="020B0604020202020204" pitchFamily="34" charset="0"/>
              <a:buChar char="•"/>
            </a:pPr>
            <a:r>
              <a:rPr lang="en-US" sz="2000" dirty="0"/>
              <a:t>Integrate emotion-aware dialogue management for personalized interactions.</a:t>
            </a:r>
          </a:p>
          <a:p>
            <a:pPr marL="457200" indent="-457200" algn="just">
              <a:buFont typeface="Arial" panose="020B0604020202020204" pitchFamily="34" charset="0"/>
              <a:buChar char="•"/>
            </a:pPr>
            <a:endParaRPr lang="en-US" sz="2000" dirty="0"/>
          </a:p>
          <a:p>
            <a:pPr marL="457200" indent="-457200" algn="just">
              <a:buFont typeface="Arial" panose="020B0604020202020204" pitchFamily="34" charset="0"/>
              <a:buChar char="•"/>
            </a:pPr>
            <a:r>
              <a:rPr lang="en-US" sz="2000" dirty="0"/>
              <a:t>Achieve high accuracy in real-time emotional state classification.</a:t>
            </a:r>
          </a:p>
          <a:p>
            <a:pPr marL="457200" indent="-457200" algn="just">
              <a:buFont typeface="Arial" panose="020B0604020202020204" pitchFamily="34" charset="0"/>
              <a:buChar char="•"/>
            </a:pPr>
            <a:endParaRPr lang="en-US" sz="2000" dirty="0"/>
          </a:p>
          <a:p>
            <a:pPr marL="457200" indent="-457200" algn="just">
              <a:buFont typeface="Arial" panose="020B0604020202020204" pitchFamily="34" charset="0"/>
              <a:buChar char="•"/>
            </a:pPr>
            <a:r>
              <a:rPr lang="en-US" sz="2000" dirty="0"/>
              <a:t>Maintain conversational context for emotionally consistent responses.</a:t>
            </a:r>
          </a:p>
          <a:p>
            <a:pPr marL="457200" indent="-457200" algn="just">
              <a:buFont typeface="Arial" panose="020B0604020202020204" pitchFamily="34" charset="0"/>
              <a:buChar char="•"/>
            </a:pPr>
            <a:endParaRPr lang="en-US" sz="2000" dirty="0"/>
          </a:p>
          <a:p>
            <a:pPr marL="457200" indent="-457200" algn="just">
              <a:buFont typeface="Arial" panose="020B0604020202020204" pitchFamily="34" charset="0"/>
              <a:buChar char="•"/>
            </a:pPr>
            <a:r>
              <a:rPr lang="en-US" sz="2000" dirty="0"/>
              <a:t>Ensure scalability and adaptability for multiple domains (healthcare, education, customer service).</a:t>
            </a:r>
          </a:p>
        </p:txBody>
      </p:sp>
      <p:pic>
        <p:nvPicPr>
          <p:cNvPr id="3" name="Content Placeholder 3" descr="Content Placeholder 3">
            <a:extLst>
              <a:ext uri="{FF2B5EF4-FFF2-40B4-BE49-F238E27FC236}">
                <a16:creationId xmlns:a16="http://schemas.microsoft.com/office/drawing/2014/main" id="{0C1380C7-29A7-B7A6-7E71-16B6B484674F}"/>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A3CB9-5827-EC80-CC35-13E8F2A2B9F6}"/>
              </a:ext>
            </a:extLst>
          </p:cNvPr>
          <p:cNvSpPr>
            <a:spLocks noGrp="1"/>
          </p:cNvSpPr>
          <p:nvPr>
            <p:ph type="title"/>
          </p:nvPr>
        </p:nvSpPr>
        <p:spPr/>
        <p:txBody>
          <a:bodyPr/>
          <a:lstStyle/>
          <a:p>
            <a:r>
              <a:rPr lang="en-US" b="1" dirty="0"/>
              <a:t>Architecture </a:t>
            </a:r>
            <a:endParaRPr lang="en-IN" b="1" dirty="0"/>
          </a:p>
        </p:txBody>
      </p:sp>
      <p:pic>
        <p:nvPicPr>
          <p:cNvPr id="4" name="Picture 3">
            <a:extLst>
              <a:ext uri="{FF2B5EF4-FFF2-40B4-BE49-F238E27FC236}">
                <a16:creationId xmlns:a16="http://schemas.microsoft.com/office/drawing/2014/main" id="{2B55AC28-1FB8-4D5F-418F-534E6E4666F1}"/>
              </a:ext>
            </a:extLst>
          </p:cNvPr>
          <p:cNvPicPr>
            <a:picLocks noChangeAspect="1"/>
          </p:cNvPicPr>
          <p:nvPr/>
        </p:nvPicPr>
        <p:blipFill>
          <a:blip r:embed="rId2"/>
          <a:stretch>
            <a:fillRect/>
          </a:stretch>
        </p:blipFill>
        <p:spPr>
          <a:xfrm>
            <a:off x="1504604" y="1369954"/>
            <a:ext cx="9572290" cy="5401271"/>
          </a:xfrm>
          <a:prstGeom prst="rect">
            <a:avLst/>
          </a:prstGeom>
        </p:spPr>
      </p:pic>
    </p:spTree>
    <p:extLst>
      <p:ext uri="{BB962C8B-B14F-4D97-AF65-F5344CB8AC3E}">
        <p14:creationId xmlns:p14="http://schemas.microsoft.com/office/powerpoint/2010/main" val="20230304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B89F9-D866-C503-C5E4-1D3DD52B6AEB}"/>
            </a:ext>
          </a:extLst>
        </p:cNvPr>
        <p:cNvGrpSpPr/>
        <p:nvPr/>
      </p:nvGrpSpPr>
      <p:grpSpPr>
        <a:xfrm>
          <a:off x="0" y="0"/>
          <a:ext cx="0" cy="0"/>
          <a:chOff x="0" y="0"/>
          <a:chExt cx="0" cy="0"/>
        </a:xfrm>
      </p:grpSpPr>
      <p:sp>
        <p:nvSpPr>
          <p:cNvPr id="122" name="Title 1">
            <a:extLst>
              <a:ext uri="{FF2B5EF4-FFF2-40B4-BE49-F238E27FC236}">
                <a16:creationId xmlns:a16="http://schemas.microsoft.com/office/drawing/2014/main" id="{A19C97C0-C463-2DB3-6EA2-3D1CFD48D6F1}"/>
              </a:ext>
            </a:extLst>
          </p:cNvPr>
          <p:cNvSpPr txBox="1">
            <a:spLocks noGrp="1"/>
          </p:cNvSpPr>
          <p:nvPr>
            <p:ph type="title"/>
          </p:nvPr>
        </p:nvSpPr>
        <p:spPr>
          <a:xfrm>
            <a:off x="838198" y="442730"/>
            <a:ext cx="10515604" cy="1325564"/>
          </a:xfrm>
          <a:prstGeom prst="rect">
            <a:avLst/>
          </a:prstGeom>
        </p:spPr>
        <p:txBody>
          <a:bodyPr/>
          <a:lstStyle/>
          <a:p>
            <a:pPr>
              <a:defRPr sz="3600" b="1">
                <a:latin typeface="Times New Roman"/>
                <a:ea typeface="Times New Roman"/>
                <a:cs typeface="Times New Roman"/>
                <a:sym typeface="Times New Roman"/>
              </a:defRPr>
            </a:pPr>
            <a:r>
              <a:rPr lang="en-US" u="sng" dirty="0"/>
              <a:t>UML Diagrams</a:t>
            </a:r>
            <a:br>
              <a:rPr lang="en-US" u="sng" dirty="0"/>
            </a:br>
            <a:endParaRPr u="sng" dirty="0"/>
          </a:p>
        </p:txBody>
      </p:sp>
      <p:sp>
        <p:nvSpPr>
          <p:cNvPr id="123" name="Rectangle 2">
            <a:extLst>
              <a:ext uri="{FF2B5EF4-FFF2-40B4-BE49-F238E27FC236}">
                <a16:creationId xmlns:a16="http://schemas.microsoft.com/office/drawing/2014/main" id="{84C6E881-2A1C-4B99-1F15-ED01AB03293A}"/>
              </a:ext>
            </a:extLst>
          </p:cNvPr>
          <p:cNvSpPr txBox="1"/>
          <p:nvPr/>
        </p:nvSpPr>
        <p:spPr>
          <a:xfrm>
            <a:off x="651962" y="1911638"/>
            <a:ext cx="10515604" cy="4001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200526" indent="-200526" algn="just">
              <a:buSzPct val="100000"/>
              <a:buChar char="•"/>
              <a:defRPr sz="2000">
                <a:latin typeface="Times New Roman"/>
                <a:ea typeface="Times New Roman"/>
                <a:cs typeface="Times New Roman"/>
                <a:sym typeface="Times New Roman"/>
              </a:defRPr>
            </a:pPr>
            <a:endParaRPr dirty="0"/>
          </a:p>
        </p:txBody>
      </p:sp>
      <p:pic>
        <p:nvPicPr>
          <p:cNvPr id="3" name="Content Placeholder 3" descr="Content Placeholder 3">
            <a:extLst>
              <a:ext uri="{FF2B5EF4-FFF2-40B4-BE49-F238E27FC236}">
                <a16:creationId xmlns:a16="http://schemas.microsoft.com/office/drawing/2014/main" id="{0BF6F0A3-99CA-F073-540D-488A9F91E504}"/>
              </a:ext>
            </a:extLst>
          </p:cNvPr>
          <p:cNvPicPr>
            <a:picLocks noChangeAspect="1"/>
          </p:cNvPicPr>
          <p:nvPr/>
        </p:nvPicPr>
        <p:blipFill>
          <a:blip r:embed="rId2"/>
          <a:stretch>
            <a:fillRect/>
          </a:stretch>
        </p:blipFill>
        <p:spPr>
          <a:xfrm>
            <a:off x="10730117" y="7529"/>
            <a:ext cx="1477069" cy="1251226"/>
          </a:xfrm>
          <a:prstGeom prst="rect">
            <a:avLst/>
          </a:prstGeom>
          <a:ln w="12700">
            <a:miter lim="400000"/>
          </a:ln>
        </p:spPr>
      </p:pic>
      <p:sp>
        <p:nvSpPr>
          <p:cNvPr id="2" name="TextBox 1">
            <a:extLst>
              <a:ext uri="{FF2B5EF4-FFF2-40B4-BE49-F238E27FC236}">
                <a16:creationId xmlns:a16="http://schemas.microsoft.com/office/drawing/2014/main" id="{E74E3D89-D97F-53C8-89D4-7A9D04CA68A6}"/>
              </a:ext>
            </a:extLst>
          </p:cNvPr>
          <p:cNvSpPr txBox="1"/>
          <p:nvPr/>
        </p:nvSpPr>
        <p:spPr>
          <a:xfrm>
            <a:off x="651962" y="1768294"/>
            <a:ext cx="2764569" cy="4616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rgbClr val="000000"/>
                </a:solidFill>
                <a:effectLst/>
                <a:uFillTx/>
                <a:latin typeface="+mj-lt"/>
                <a:ea typeface="+mj-ea"/>
                <a:cs typeface="+mj-cs"/>
                <a:sym typeface="Helvetica"/>
              </a:rPr>
              <a:t>Class Diagram </a:t>
            </a:r>
            <a:r>
              <a:rPr kumimoji="0" lang="en-US" sz="1800" b="1" i="0" u="none" strike="noStrike" cap="none" spc="0" normalizeH="0" baseline="0" dirty="0">
                <a:ln>
                  <a:noFill/>
                </a:ln>
                <a:solidFill>
                  <a:srgbClr val="000000"/>
                </a:solidFill>
                <a:effectLst/>
                <a:uFillTx/>
                <a:latin typeface="+mj-lt"/>
                <a:ea typeface="+mj-ea"/>
                <a:cs typeface="+mj-cs"/>
                <a:sym typeface="Helvetica"/>
              </a:rPr>
              <a:t>: </a:t>
            </a:r>
            <a:endParaRPr kumimoji="0" lang="en-IN" sz="1800" b="1" i="0" u="none" strike="noStrike" cap="none" spc="0" normalizeH="0" baseline="0" dirty="0">
              <a:ln>
                <a:noFill/>
              </a:ln>
              <a:solidFill>
                <a:srgbClr val="000000"/>
              </a:solidFill>
              <a:effectLst/>
              <a:uFillTx/>
              <a:latin typeface="+mj-lt"/>
              <a:ea typeface="+mj-ea"/>
              <a:cs typeface="+mj-cs"/>
              <a:sym typeface="Helvetica"/>
            </a:endParaRPr>
          </a:p>
        </p:txBody>
      </p:sp>
      <p:pic>
        <p:nvPicPr>
          <p:cNvPr id="6" name="Picture 5">
            <a:extLst>
              <a:ext uri="{FF2B5EF4-FFF2-40B4-BE49-F238E27FC236}">
                <a16:creationId xmlns:a16="http://schemas.microsoft.com/office/drawing/2014/main" id="{4D17A44A-234C-F7E6-9846-A6AAB99148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4312" y="2036531"/>
            <a:ext cx="4143375" cy="4591050"/>
          </a:xfrm>
          <a:prstGeom prst="rect">
            <a:avLst/>
          </a:prstGeom>
        </p:spPr>
      </p:pic>
    </p:spTree>
    <p:extLst>
      <p:ext uri="{BB962C8B-B14F-4D97-AF65-F5344CB8AC3E}">
        <p14:creationId xmlns:p14="http://schemas.microsoft.com/office/powerpoint/2010/main" val="353377816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6079-3E83-304B-C2E7-FB06D56CDD91}"/>
              </a:ext>
            </a:extLst>
          </p:cNvPr>
          <p:cNvSpPr>
            <a:spLocks noGrp="1"/>
          </p:cNvSpPr>
          <p:nvPr>
            <p:ph type="title"/>
          </p:nvPr>
        </p:nvSpPr>
        <p:spPr/>
        <p:txBody>
          <a:bodyPr>
            <a:normAutofit/>
          </a:bodyPr>
          <a:lstStyle/>
          <a:p>
            <a:r>
              <a:rPr lang="en-US" sz="2400" b="1" dirty="0">
                <a:latin typeface="+mj-lt"/>
              </a:rPr>
              <a:t>Use Case Diagram : </a:t>
            </a:r>
            <a:endParaRPr lang="en-IN" sz="2400" b="1" dirty="0">
              <a:latin typeface="+mj-lt"/>
            </a:endParaRPr>
          </a:p>
        </p:txBody>
      </p:sp>
      <p:pic>
        <p:nvPicPr>
          <p:cNvPr id="4" name="Picture 3">
            <a:extLst>
              <a:ext uri="{FF2B5EF4-FFF2-40B4-BE49-F238E27FC236}">
                <a16:creationId xmlns:a16="http://schemas.microsoft.com/office/drawing/2014/main" id="{518C9B9F-2345-35EE-AF81-02341BB8A36F}"/>
              </a:ext>
            </a:extLst>
          </p:cNvPr>
          <p:cNvPicPr>
            <a:picLocks noChangeAspect="1"/>
          </p:cNvPicPr>
          <p:nvPr/>
        </p:nvPicPr>
        <p:blipFill>
          <a:blip r:embed="rId2"/>
          <a:stretch>
            <a:fillRect/>
          </a:stretch>
        </p:blipFill>
        <p:spPr>
          <a:xfrm>
            <a:off x="979714" y="1205345"/>
            <a:ext cx="10232572" cy="5170518"/>
          </a:xfrm>
          <a:prstGeom prst="rect">
            <a:avLst/>
          </a:prstGeom>
        </p:spPr>
      </p:pic>
    </p:spTree>
    <p:extLst>
      <p:ext uri="{BB962C8B-B14F-4D97-AF65-F5344CB8AC3E}">
        <p14:creationId xmlns:p14="http://schemas.microsoft.com/office/powerpoint/2010/main" val="8908036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BA08-0E9B-B931-1ABE-BB37E333A1DB}"/>
              </a:ext>
            </a:extLst>
          </p:cNvPr>
          <p:cNvSpPr>
            <a:spLocks noGrp="1"/>
          </p:cNvSpPr>
          <p:nvPr>
            <p:ph type="title"/>
          </p:nvPr>
        </p:nvSpPr>
        <p:spPr/>
        <p:txBody>
          <a:bodyPr>
            <a:normAutofit/>
          </a:bodyPr>
          <a:lstStyle/>
          <a:p>
            <a:r>
              <a:rPr lang="en-US" sz="2400" b="1" dirty="0"/>
              <a:t>Sequence Diagram :</a:t>
            </a:r>
            <a:endParaRPr lang="en-IN" sz="2400" b="1" dirty="0"/>
          </a:p>
        </p:txBody>
      </p:sp>
      <p:pic>
        <p:nvPicPr>
          <p:cNvPr id="4" name="Picture 3">
            <a:extLst>
              <a:ext uri="{FF2B5EF4-FFF2-40B4-BE49-F238E27FC236}">
                <a16:creationId xmlns:a16="http://schemas.microsoft.com/office/drawing/2014/main" id="{470B74B8-A247-7AFE-B9C9-88F2965BF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904" y="1738312"/>
            <a:ext cx="10357659" cy="4446357"/>
          </a:xfrm>
          <a:prstGeom prst="rect">
            <a:avLst/>
          </a:prstGeom>
        </p:spPr>
      </p:pic>
    </p:spTree>
    <p:extLst>
      <p:ext uri="{BB962C8B-B14F-4D97-AF65-F5344CB8AC3E}">
        <p14:creationId xmlns:p14="http://schemas.microsoft.com/office/powerpoint/2010/main" val="238306621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
          <p:cNvSpPr txBox="1">
            <a:spLocks noGrp="1"/>
          </p:cNvSpPr>
          <p:nvPr>
            <p:ph type="title"/>
          </p:nvPr>
        </p:nvSpPr>
        <p:spPr>
          <a:xfrm>
            <a:off x="956655" y="428505"/>
            <a:ext cx="10515604" cy="1325564"/>
          </a:xfrm>
          <a:prstGeom prst="rect">
            <a:avLst/>
          </a:prstGeom>
        </p:spPr>
        <p:txBody>
          <a:bodyPr/>
          <a:lstStyle/>
          <a:p>
            <a:pPr>
              <a:defRPr sz="3600" b="1">
                <a:latin typeface="Times New Roman"/>
                <a:ea typeface="Times New Roman"/>
                <a:cs typeface="Times New Roman"/>
                <a:sym typeface="Times New Roman"/>
              </a:defRPr>
            </a:pPr>
            <a:r>
              <a:rPr lang="en-US" u="sng" dirty="0"/>
              <a:t>Requirement </a:t>
            </a:r>
            <a:r>
              <a:rPr u="sng" dirty="0"/>
              <a:t>Analysis</a:t>
            </a:r>
            <a:r>
              <a:rPr dirty="0"/>
              <a:t>​</a:t>
            </a:r>
            <a:br>
              <a:rPr dirty="0"/>
            </a:br>
            <a:endParaRPr dirty="0"/>
          </a:p>
        </p:txBody>
      </p:sp>
      <p:pic>
        <p:nvPicPr>
          <p:cNvPr id="2" name="Content Placeholder 3" descr="Content Placeholder 3">
            <a:extLst>
              <a:ext uri="{FF2B5EF4-FFF2-40B4-BE49-F238E27FC236}">
                <a16:creationId xmlns:a16="http://schemas.microsoft.com/office/drawing/2014/main" id="{F712DD5C-0D78-A082-56A9-338D00ED4ED4}"/>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sp>
        <p:nvSpPr>
          <p:cNvPr id="3" name="Rectangle 1"/>
          <p:cNvSpPr>
            <a:spLocks noChangeArrowheads="1"/>
          </p:cNvSpPr>
          <p:nvPr/>
        </p:nvSpPr>
        <p:spPr bwMode="auto">
          <a:xfrm>
            <a:off x="614680" y="1600181"/>
            <a:ext cx="1096264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t>Hardware Requirements</a:t>
            </a:r>
          </a:p>
          <a:p>
            <a:endParaRPr lang="en-IN" sz="2000" b="1" dirty="0"/>
          </a:p>
          <a:p>
            <a:pPr>
              <a:buFont typeface="+mj-lt"/>
              <a:buAutoNum type="arabicPeriod"/>
            </a:pPr>
            <a:r>
              <a:rPr lang="en-IN" sz="2000" b="1" dirty="0"/>
              <a:t>Processing Unit</a:t>
            </a:r>
            <a:r>
              <a:rPr lang="en-IN" sz="2000" dirty="0"/>
              <a:t> – High-performance GPU (e.g., NVIDIA RTX 3060 or higher) or cloud-based GPU service for deep learning model training and inference.</a:t>
            </a:r>
          </a:p>
          <a:p>
            <a:pPr>
              <a:buFont typeface="+mj-lt"/>
              <a:buAutoNum type="arabicPeriod"/>
            </a:pPr>
            <a:r>
              <a:rPr lang="en-IN" sz="2000" b="1" dirty="0"/>
              <a:t>Memory</a:t>
            </a:r>
            <a:r>
              <a:rPr lang="en-IN" sz="2000" dirty="0"/>
              <a:t> – Minimum 16 GB RAM for smooth dataset handling and real-time processing.</a:t>
            </a:r>
          </a:p>
          <a:p>
            <a:pPr>
              <a:buFont typeface="+mj-lt"/>
              <a:buAutoNum type="arabicPeriod"/>
            </a:pPr>
            <a:r>
              <a:rPr lang="en-IN" sz="2000" b="1" dirty="0"/>
              <a:t>Storage</a:t>
            </a:r>
            <a:r>
              <a:rPr lang="en-IN" sz="2000" dirty="0"/>
              <a:t> – At least 512 GB SSD for datasets, model checkpoints, and application files.</a:t>
            </a:r>
          </a:p>
          <a:p>
            <a:pPr>
              <a:buFont typeface="+mj-lt"/>
              <a:buAutoNum type="arabicPeriod"/>
            </a:pPr>
            <a:endParaRPr lang="en-IN" sz="2000" dirty="0"/>
          </a:p>
          <a:p>
            <a:r>
              <a:rPr lang="en-IN" sz="2000" b="1" dirty="0"/>
              <a:t>Software Requirements</a:t>
            </a:r>
          </a:p>
          <a:p>
            <a:endParaRPr lang="en-IN" sz="2000" b="1" dirty="0"/>
          </a:p>
          <a:p>
            <a:pPr>
              <a:buFont typeface="+mj-lt"/>
              <a:buAutoNum type="arabicPeriod"/>
            </a:pPr>
            <a:r>
              <a:rPr lang="en-IN" sz="2000" b="1" dirty="0"/>
              <a:t>Programming &amp; Frameworks</a:t>
            </a:r>
            <a:r>
              <a:rPr lang="en-IN" sz="2000" dirty="0"/>
              <a:t> – Python 3.x, </a:t>
            </a:r>
            <a:r>
              <a:rPr lang="en-IN" sz="2000" dirty="0" err="1"/>
              <a:t>PyTorch</a:t>
            </a:r>
            <a:r>
              <a:rPr lang="en-IN" sz="2000" dirty="0"/>
              <a:t>/TensorFlow, Hugging Face Transformers for NLP.</a:t>
            </a:r>
          </a:p>
          <a:p>
            <a:pPr>
              <a:buFont typeface="+mj-lt"/>
              <a:buAutoNum type="arabicPeriod"/>
            </a:pPr>
            <a:r>
              <a:rPr lang="en-IN" sz="2000" b="1" dirty="0"/>
              <a:t>Supporting Libraries</a:t>
            </a:r>
            <a:r>
              <a:rPr lang="en-IN" sz="2000" dirty="0"/>
              <a:t> – OpenCV (for visual emotion recognition), NLTK/Spacy (for text </a:t>
            </a:r>
            <a:r>
              <a:rPr lang="en-IN" sz="2000" dirty="0" err="1"/>
              <a:t>preprocessing</a:t>
            </a:r>
            <a:r>
              <a:rPr lang="en-IN" sz="2000" dirty="0"/>
              <a:t>), </a:t>
            </a:r>
            <a:r>
              <a:rPr lang="en-IN" sz="2000" dirty="0" err="1"/>
              <a:t>SpeechRecognition</a:t>
            </a:r>
            <a:r>
              <a:rPr lang="en-IN" sz="2000" dirty="0"/>
              <a:t> &amp; </a:t>
            </a:r>
            <a:r>
              <a:rPr lang="en-IN" sz="2000" dirty="0" err="1"/>
              <a:t>librosa</a:t>
            </a:r>
            <a:r>
              <a:rPr lang="en-IN" sz="2000" dirty="0"/>
              <a:t> (for audio analysis).</a:t>
            </a:r>
          </a:p>
          <a:p>
            <a:pPr>
              <a:buFont typeface="+mj-lt"/>
              <a:buAutoNum type="arabicPeriod"/>
            </a:pPr>
            <a:r>
              <a:rPr lang="en-IN" sz="2000" b="1" dirty="0"/>
              <a:t>Deployment Tools</a:t>
            </a:r>
            <a:r>
              <a:rPr lang="en-IN" sz="2000" dirty="0"/>
              <a:t> – Flask/</a:t>
            </a:r>
            <a:r>
              <a:rPr lang="en-IN" sz="2000" dirty="0" err="1"/>
              <a:t>FastAPI</a:t>
            </a:r>
            <a:r>
              <a:rPr lang="en-IN" sz="2000" dirty="0"/>
              <a:t> for API integration, MongoDB/PostgreSQL for data storage, and Docker for containerized deployment.</a:t>
            </a:r>
          </a:p>
          <a:p>
            <a:endParaRPr lang="en-IN" sz="2000"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
          <p:cNvSpPr txBox="1">
            <a:spLocks noGrp="1"/>
          </p:cNvSpPr>
          <p:nvPr>
            <p:ph type="title"/>
          </p:nvPr>
        </p:nvSpPr>
        <p:spPr>
          <a:xfrm>
            <a:off x="1024629" y="104079"/>
            <a:ext cx="10515601" cy="1325564"/>
          </a:xfrm>
          <a:prstGeom prst="rect">
            <a:avLst/>
          </a:prstGeom>
        </p:spPr>
        <p:txBody>
          <a:bodyPr/>
          <a:lstStyle>
            <a:lvl1pPr>
              <a:defRPr sz="3600" b="1">
                <a:latin typeface="Times New Roman"/>
                <a:ea typeface="Times New Roman"/>
                <a:cs typeface="Times New Roman"/>
                <a:sym typeface="Times New Roman"/>
              </a:defRPr>
            </a:lvl1pPr>
          </a:lstStyle>
          <a:p>
            <a:r>
              <a:rPr u="sng" dirty="0"/>
              <a:t>Output</a:t>
            </a:r>
          </a:p>
        </p:txBody>
      </p:sp>
      <p:sp>
        <p:nvSpPr>
          <p:cNvPr id="129" name="Early detection of heart risk before symptoms appear.…"/>
          <p:cNvSpPr txBox="1"/>
          <p:nvPr/>
        </p:nvSpPr>
        <p:spPr>
          <a:xfrm>
            <a:off x="1015239" y="1725465"/>
            <a:ext cx="5585079" cy="4001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marL="200526" indent="-200526" algn="just" defTabSz="457200">
              <a:spcBef>
                <a:spcPts val="1200"/>
              </a:spcBef>
              <a:buSzPct val="100000"/>
              <a:buChar char="•"/>
              <a:defRPr sz="2000">
                <a:latin typeface="Times Roman"/>
                <a:ea typeface="Times Roman"/>
                <a:cs typeface="Times Roman"/>
                <a:sym typeface="Times Roman"/>
              </a:defRPr>
            </a:pPr>
            <a:endParaRPr dirty="0"/>
          </a:p>
        </p:txBody>
      </p:sp>
      <p:pic>
        <p:nvPicPr>
          <p:cNvPr id="4" name="Content Placeholder 3" descr="Content Placeholder 3">
            <a:extLst>
              <a:ext uri="{FF2B5EF4-FFF2-40B4-BE49-F238E27FC236}">
                <a16:creationId xmlns:a16="http://schemas.microsoft.com/office/drawing/2014/main" id="{31E5E7B6-5B49-396B-40EA-58B68F37B837}"/>
              </a:ext>
            </a:extLst>
          </p:cNvPr>
          <p:cNvPicPr>
            <a:picLocks noChangeAspect="1"/>
          </p:cNvPicPr>
          <p:nvPr/>
        </p:nvPicPr>
        <p:blipFill>
          <a:blip r:embed="rId2"/>
          <a:stretch>
            <a:fillRect/>
          </a:stretch>
        </p:blipFill>
        <p:spPr>
          <a:xfrm>
            <a:off x="10730117" y="-3622"/>
            <a:ext cx="1477069" cy="1251226"/>
          </a:xfrm>
          <a:prstGeom prst="rect">
            <a:avLst/>
          </a:prstGeom>
          <a:ln w="12700">
            <a:miter lim="400000"/>
          </a:ln>
        </p:spPr>
      </p:pic>
      <p:pic>
        <p:nvPicPr>
          <p:cNvPr id="2" name="Image 30">
            <a:extLst>
              <a:ext uri="{FF2B5EF4-FFF2-40B4-BE49-F238E27FC236}">
                <a16:creationId xmlns:a16="http://schemas.microsoft.com/office/drawing/2014/main" id="{E69D523B-5266-EF8B-7A5A-74905C389ECE}"/>
              </a:ext>
            </a:extLst>
          </p:cNvPr>
          <p:cNvPicPr>
            <a:picLocks/>
          </p:cNvPicPr>
          <p:nvPr/>
        </p:nvPicPr>
        <p:blipFill>
          <a:blip r:embed="rId3" cstate="print"/>
          <a:stretch>
            <a:fillRect/>
          </a:stretch>
        </p:blipFill>
        <p:spPr>
          <a:xfrm>
            <a:off x="1120458" y="1429643"/>
            <a:ext cx="5299003" cy="1845402"/>
          </a:xfrm>
          <a:prstGeom prst="rect">
            <a:avLst/>
          </a:prstGeom>
        </p:spPr>
      </p:pic>
      <p:pic>
        <p:nvPicPr>
          <p:cNvPr id="5" name="Picture 4">
            <a:extLst>
              <a:ext uri="{FF2B5EF4-FFF2-40B4-BE49-F238E27FC236}">
                <a16:creationId xmlns:a16="http://schemas.microsoft.com/office/drawing/2014/main" id="{8F4D6E2D-E862-E203-DB43-B7F3EC7B264A}"/>
              </a:ext>
            </a:extLst>
          </p:cNvPr>
          <p:cNvPicPr>
            <a:picLocks noChangeAspect="1"/>
          </p:cNvPicPr>
          <p:nvPr/>
        </p:nvPicPr>
        <p:blipFill>
          <a:blip r:embed="rId4"/>
          <a:stretch>
            <a:fillRect/>
          </a:stretch>
        </p:blipFill>
        <p:spPr>
          <a:xfrm>
            <a:off x="5967011" y="3692301"/>
            <a:ext cx="5501640" cy="2080260"/>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HANK YOU"/>
          <p:cNvSpPr txBox="1">
            <a:spLocks noGrp="1"/>
          </p:cNvSpPr>
          <p:nvPr>
            <p:ph type="ctrTitle"/>
          </p:nvPr>
        </p:nvSpPr>
        <p:spPr>
          <a:xfrm>
            <a:off x="1614120" y="1727456"/>
            <a:ext cx="9144001" cy="2387601"/>
          </a:xfrm>
          <a:prstGeom prst="rect">
            <a:avLst/>
          </a:prstGeom>
        </p:spPr>
        <p:txBody>
          <a:bodyPr/>
          <a:lstStyle>
            <a:lvl1pPr>
              <a:defRPr sz="5000" b="1">
                <a:latin typeface="Times New Roman"/>
                <a:ea typeface="Times New Roman"/>
                <a:cs typeface="Times New Roman"/>
                <a:sym typeface="Times New Roman"/>
              </a:defRPr>
            </a:lvl1pPr>
          </a:lstStyle>
          <a:p>
            <a:r>
              <a:t>THANK YOU</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253</TotalTime>
  <Words>964</Words>
  <Application>Microsoft Office PowerPoint</Application>
  <PresentationFormat>Widescreen</PresentationFormat>
  <Paragraphs>103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vt:lpstr>
      <vt:lpstr>Times New Roman</vt:lpstr>
      <vt:lpstr>Office Theme</vt:lpstr>
      <vt:lpstr>CMR Technical Campus Department of CSE</vt:lpstr>
      <vt:lpstr>Index</vt:lpstr>
      <vt:lpstr>Department Vision and Mission </vt:lpstr>
      <vt:lpstr>Introduction </vt:lpstr>
      <vt:lpstr>Abstract </vt:lpstr>
      <vt:lpstr>Literature Review  </vt:lpstr>
      <vt:lpstr>Problem Definition </vt:lpstr>
      <vt:lpstr>Proposed System</vt:lpstr>
      <vt:lpstr>Objectives </vt:lpstr>
      <vt:lpstr>Architecture </vt:lpstr>
      <vt:lpstr>UML Diagrams </vt:lpstr>
      <vt:lpstr>Use Case Diagram : </vt:lpstr>
      <vt:lpstr>Sequence Diagram :</vt:lpstr>
      <vt:lpstr>Requirement Analysis​ </vt:lpstr>
      <vt:lpstr>Output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Technical Campus Department of CSE</dc:title>
  <dc:creator>Aniruth</dc:creator>
  <cp:lastModifiedBy>ANKIT KUMAR PANDEY</cp:lastModifiedBy>
  <cp:revision>19</cp:revision>
  <dcterms:modified xsi:type="dcterms:W3CDTF">2026-04-17T04:05:35Z</dcterms:modified>
</cp:coreProperties>
</file>